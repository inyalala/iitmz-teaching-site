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Structures as Classes, and Why We Count Operations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Shape to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Stack: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"""Last-in, first-out collection."""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          </a:t>
            </a:r>
            <a:r>
              <a:rPr i="1">
                <a:solidFill>
                  <a:srgbClr val="60A0B0"/>
                </a:solidFill>
                <a:latin typeface="Courier"/>
              </a:rPr>
              <a:t># hidden: nothing outside touches this list directly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push(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item):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._items.append(item)  </a:t>
            </a:r>
            <a:r>
              <a:rPr i="1">
                <a:solidFill>
                  <a:srgbClr val="60A0B0"/>
                </a:solidFill>
                <a:latin typeface="Courier"/>
              </a:rPr>
              <a:t># add to the end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pop(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._items.pop()  </a:t>
            </a:r>
            <a:r>
              <a:rPr i="1">
                <a:solidFill>
                  <a:srgbClr val="60A0B0"/>
                </a:solidFill>
                <a:latin typeface="Courier"/>
              </a:rPr>
              <a:t># remove and return from the end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is_empty(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._items)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Stack()</a:t>
            </a:r>
            <a:br/>
            <a:r>
              <a:rPr>
                <a:latin typeface="Courier"/>
              </a:rPr>
              <a:t>s.push(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s.push(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(s.pop())        </a:t>
            </a:r>
            <a:r>
              <a:rPr i="1">
                <a:solidFill>
                  <a:srgbClr val="60A0B0"/>
                </a:solidFill>
                <a:latin typeface="Courier"/>
              </a:rPr>
              <a:t># 2 — the most recently pushed item comes back first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(s.is_empty())   </a:t>
            </a:r>
            <a:r>
              <a:rPr i="1">
                <a:solidFill>
                  <a:srgbClr val="60A0B0"/>
                </a:solidFill>
                <a:latin typeface="Courier"/>
              </a:rPr>
              <a:t># False — one item, "1", is still inside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“counting operations,” not “using a stopwatch”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time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linear_search(items, target):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i,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enumerate</a:t>
            </a:r>
            <a:r>
              <a:rPr>
                <a:latin typeface="Courier"/>
              </a:rPr>
              <a:t>(items):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>
                <a:latin typeface="Courier"/>
              </a:rPr>
              <a:t>data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list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1_000_000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start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time.perf_counter()</a:t>
            </a:r>
            <a:br/>
            <a:r>
              <a:rPr>
                <a:latin typeface="Courier"/>
              </a:rPr>
              <a:t>linear_search(data, </a:t>
            </a:r>
            <a:r>
              <a:rPr>
                <a:solidFill>
                  <a:srgbClr val="40A070"/>
                </a:solidFill>
                <a:latin typeface="Courier"/>
              </a:rPr>
              <a:t>999_999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(time.perf_counter()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start)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actually stays true across machines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Comparisons (worst case)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1,000,000,000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1,000,000,000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Naming the growth rate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14:m><m:oMath xmlns:m="http://schemas.openxmlformats.org/officeDocument/2006/math"><m:r><m:t>n</m:t></m:r></m:oMath></a14:m></a:p></a:txBody><a:tcPr /></a:tc><a:tc><a:txBody><a:bodyPr /><a:lstStyle /><a:p><a:pPr lvl="0" indent="0" marL="0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a:r><a:rPr /><a:t> linear search</a:t></a:r></a:p></a:txBody><a:tcPr /></a:tc><a:tc><a:txBody><a:bodyPr /><a:lstStyle /><a:p><a:pPr lvl="0" indent="0" marL="0"><a:buNone /></a:pPr><a14:m><m:oMath xmlns:m="http://schemas.openxmlformats.org/officeDocument/2006/math"><m:r><m:t>O</m:t></m:r><m:r><m:rPr><m:sty m:val="p" /></m:rPr><m:t>(</m:t></m:r><m:r><m:rPr><m:sty m:val="p" /></m:rPr><m:t>log</m:t></m:r><m:r><m:t>n</m:t></m:r><m:r><m:rPr><m:sty m:val="p" /></m:rPr><m:t>)</m:t></m:r></m:oMath></a14:m><a:r><a:rPr /><a:t> binary search</a:t></a:r></a:p></a:txBody><a:tcPr /></a:tc></a:tr><a:tr h="0"><a:tc><a:txBody><a:bodyPr /><a:lstStyle /><a:p><a:pPr lvl="0" indent="0" marL="0"><a:buNone /></a:pPr><a:r><a:rPr /><a:t>1,000</a:t></a:r></a:p></a:txBody></a:tc><a:tc><a:txBody><a:bodyPr /><a:lstStyle /><a:p><a:pPr lvl="0" indent="0" marL="0"><a:buNone /></a:pPr><a:r><a:rPr /><a:t>1,000</a:t></a:r></a:p></a:txBody></a:tc><a:tc><a:txBody><a:bodyPr /><a:lstStyle /><a:p><a:pPr lvl="0" indent="0" marL="0"><a:buNone /></a:pPr><a:r><a:rPr /><a:t>~10</a:t></a:r></a:p></a:txBody></a:tc></a:tr><a:tr h="0"><a:tc><a:txBody><a:bodyPr /><a:lstStyle /><a:p><a:pPr lvl="0" indent="0" marL="0"><a:buNone /></a:pPr><a:r><a:rPr /><a:t>1,000,000</a:t></a:r></a:p></a:txBody></a:tc><a:tc><a:txBody><a:bodyPr /><a:lstStyle /><a:p><a:pPr lvl="0" indent="0" marL="0"><a:buNone /></a:pPr><a:r><a:rPr /><a:t>1,000,000</a:t></a:r></a:p></a:txBody></a:tc><a:tc><a:txBody><a:bodyPr /><a:lstStyle /><a:p><a:pPr lvl="0" indent="0" marL="0"><a:buNone /></a:pPr><a:r><a:rPr /><a:t>~20</a:t></a:r></a:p></a:txBody></a:tc></a:tr><a:tr h="0"><a:tc><a:txBody><a:bodyPr /><a:lstStyle /><a:p><a:pPr lvl="0" indent="0" marL="0"><a:buNone /></a:pPr><a:r><a:rPr /><a:t>1,000,000,000</a:t></a:r></a:p></a:txBody></a:tc><a:tc><a:txBody><a:bodyPr /><a:lstStyle /><a:p><a:pPr lvl="0" indent="0" marL="0"><a:buNone /></a:pPr><a:r><a:rPr /><a:t>1,000,000,000</a:t></a:r></a:p></a:txBody></a:tc><a:tc><a:txBody><a:bodyPr /><a:lstStyle /><a:p><a:pPr lvl="0" indent="0" marL="0"><a:buNone /></a:pPr><a:r><a:rPr /><a:t>~30</a:t></a:r></a:p></a:txBody></a:tc></a:tr></a:tbl></a:graphicData></a:graphic></p:graphicFrame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Best, worst, and average case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(bring to lab)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course goes next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as Classes, and Why We Count Operations</dc:title>
  <dc:creator>Dr. Innocent Nyalala</dc:creator>
  <cp:keywords/>
  <dcterms:created xsi:type="dcterms:W3CDTF">2026-08-02T22:41:57Z</dcterms:created>
  <dcterms:modified xsi:type="dcterms:W3CDTF">2026-08-02T22:41:57Z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1, Lecture 4</vt:lpwstr>
  </property>
  <property fmtid="{D5CDD505-2E9C-101B-9397-08002B2CF9AE}" pid="10" name="toc-title">
    <vt:lpwstr>Table of contents</vt:lpwstr>
  </property>
</Properties>
</file>