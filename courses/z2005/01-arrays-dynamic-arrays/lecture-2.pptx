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Dynamic Arrays: How Python Lists Grow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2,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moving-house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puzzle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scores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1_000_000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scores.append(i)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Simulating it by hand: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capacity = 1, length = 0
arr = [ _ ]</a:t>
            </a:r>
          </a:p>
          <a:p>
            <a:pPr lvl="0" indent="0">
              <a:buNone/>
            </a:pPr>
            <a:r>
              <a:rPr>
                <a:latin typeface="Courier"/>
              </a:rPr>
              <a:t>scores.append(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capacity = 1, length = 1
arr = [ 10 ]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Simulating it by hand: step 2, the resize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scores.append(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)    </a:t>
            </a:r>
            <a:r>
              <a:rPr i="1">
                <a:solidFill>
                  <a:srgbClr val="60A0B0"/>
                </a:solidFill>
                <a:latin typeface="Courier"/>
              </a:rPr>
              <a:t># capacity is full (1/1) — must resize</a:t>
            </a:r>
          </a:p>
          <a:p>
            <a:pPr lvl="0" indent="0">
              <a:buNone/>
            </a:pPr>
            <a:r>
              <a:rPr>
                <a:latin typeface="Courier"/>
              </a:rPr>
              <a:t>capacity = 2, length = 2
arr = [ 10, 20 ]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Simulating it by hand: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scores.append(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)    </a:t>
            </a:r>
            <a:r>
              <a:rPr i="1">
                <a:solidFill>
                  <a:srgbClr val="60A0B0"/>
                </a:solidFill>
                <a:latin typeface="Courier"/>
              </a:rPr>
              <a:t># capacity is full (2/2) — must resize</a:t>
            </a:r>
          </a:p>
          <a:p>
            <a:pPr lvl="0" indent="0">
              <a:buNone/>
            </a:pPr>
            <a:r>
              <a:rPr>
                <a:latin typeface="Courier"/>
              </a:rPr>
              <a:t>Before:  capacity=2, arr=[10, 20]
Allocate: new array, capacity=4
Copy:     [10, 20, _, _]
Insert:   [10, 20, 30, _]
After:    capacity=4, length=3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Simulating it by hand: steps 4 and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scores.append(</a:t>
            </a:r>
            <a:r>
              <a:rPr>
                <a:solidFill>
                  <a:srgbClr val="40A070"/>
                </a:solidFill>
                <a:latin typeface="Courier"/>
              </a:rPr>
              <a:t>40</a:t>
            </a:r>
            <a:r>
              <a:rPr>
                <a:latin typeface="Courier"/>
              </a:rPr>
              <a:t>)    </a:t>
            </a:r>
            <a:r>
              <a:rPr i="1">
                <a:solidFill>
                  <a:srgbClr val="60A0B0"/>
                </a:solidFill>
                <a:latin typeface="Courier"/>
              </a:rPr>
              <a:t># fits (3/4, one free slot) → no resize</a:t>
            </a:r>
            <a:br/>
            <a:r>
              <a:rPr>
                <a:latin typeface="Courier"/>
              </a:rPr>
              <a:t>scores.append(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latin typeface="Courier"/>
              </a:rPr>
              <a:t>)    </a:t>
            </a:r>
            <a:r>
              <a:rPr i="1">
                <a:solidFill>
                  <a:srgbClr val="60A0B0"/>
                </a:solidFill>
                <a:latin typeface="Courier"/>
              </a:rPr>
              <a:t># full (4/4) → resize to capacity 8, copy 10,20,30,40, insert 50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Counting the actual work done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doubling, and not “add one slot each time”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Putting real numbers on the difference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Length vs. capacity: two different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sys</a:t>
            </a:r>
            <a:br/>
            <a:r>
              <a:rPr>
                <a:latin typeface="Courier"/>
              </a:rPr>
              <a:t>scores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scores.append(i)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(scores), sys.getsizeof(scores))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the actual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len=1  size=... (capacity allocated for 1)
len=2  size=... (capacity jumped — resize happened)
len=3  size=... (capacity jumped again)
len=4  size=... (SAME as len=3's size — free slot used, no resize)
len=5  size=... (capacity jumped again)
len=6  size=... (SAME as len=5's size — free slot used)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three snapshots of the same list</a:t>
            </a:r>
          </a:p>
        </p:txBody>
      </p:sp>
      <p:pic>
        <p:nvPicPr>
          <p:cNvPr descr="figures/dynamic-array-growth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9800" y="1193800"/>
            <a:ext cx="7264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capacity growth factor choices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the general growth-factor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total copies over </m:t>
                      </m:r>
                      <m:r>
                        <m:t>n</m:t>
                      </m:r>
                      <m:r>
                        <m:rPr>
                          <m:nor/>
                          <m:sty m:val="p"/>
                        </m:rPr>
                        <m:t> appends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⋅</m:t>
                      </m:r>
                      <m:f>
                        <m:fPr>
                          <m:type m:val="bar"/>
                        </m:fPr>
                        <m:num>
                          <m:r>
                            <m:t>g</m:t>
                          </m:r>
                        </m:num>
                        <m:den>
                          <m:r>
                            <m:t>g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g</m:t>
                      </m:r>
                      <m:r>
                        <m:rPr>
                          <m:sty m:val="p"/>
                        </m:rPr>
                        <m:t>&gt;</m:t>
                      </m:r>
                      <m:r>
                        <m:t>1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worked trace — 16 appends from empty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read the trace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Arrays: How Python Lists Grow</dc:title>
  <dc:creator>Dr. Innocent Nyalala</dc:creator>
  <cp:keywords/>
  <dcterms:created xsi:type="dcterms:W3CDTF">2026-08-03T19:46:52Z</dcterms:created>
  <dcterms:modified xsi:type="dcterms:W3CDTF">2026-08-03T19:46:52Z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2, Lecture 2</vt:lpwstr>
  </property>
  <property fmtid="{D5CDD505-2E9C-101B-9397-08002B2CF9AE}" pid="10" name="toc-title">
    <vt:lpwstr>Table of contents</vt:lpwstr>
  </property>
</Properties>
</file>