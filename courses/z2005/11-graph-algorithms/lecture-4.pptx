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Prim’s Algorithm, and Consolidating the Graph Algorithms Unit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Weeks 12-13,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garden-irrigation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Prim’s algorithm, in full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heapq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prim(graph, start, n):</a:t>
            </a:r>
            <a:br/>
            <a:r>
              <a:rPr>
                <a:latin typeface="Courier"/>
              </a:rPr>
              <a:t>    visited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{start}</a:t>
            </a:r>
            <a:br/>
            <a:r>
              <a:rPr>
                <a:latin typeface="Courier"/>
              </a:rPr>
              <a:t>    mst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edges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[(weight, start, neighbor)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weight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graph.adj[start]]</a:t>
            </a:r>
            <a:br/>
            <a:r>
              <a:rPr>
                <a:latin typeface="Courier"/>
              </a:rPr>
              <a:t>    heapq.heapify(edges)</a:t>
            </a:r>
            <a:br/>
            <a:r>
              <a:rPr>
                <a:latin typeface="Courier"/>
              </a:rPr>
              <a:t>    total_weight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edges </a:t>
            </a:r>
            <a:r>
              <a:rPr b="1">
                <a:solidFill>
                  <a:srgbClr val="007020"/>
                </a:solidFill>
                <a:latin typeface="Courier"/>
              </a:rPr>
              <a:t>and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(visited)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n:</a:t>
            </a:r>
            <a:br/>
            <a:r>
              <a:rPr>
                <a:latin typeface="Courier"/>
              </a:rPr>
              <a:t>        weight, u, v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heapq.heappop(edges)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v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continue</a:t>
            </a:r>
            <a:r>
              <a:rPr>
                <a:latin typeface="Courier"/>
              </a:rPr>
              <a:t>  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would create a cycle — skip, exactly Kruskal's check</a:t>
            </a:r>
            <a:br/>
            <a:r>
              <a:rPr>
                <a:latin typeface="Courier"/>
              </a:rPr>
              <a:t>        visited.add(v)</a:t>
            </a:r>
            <a:br/>
            <a:r>
              <a:rPr>
                <a:latin typeface="Courier"/>
              </a:rPr>
              <a:t>        mst.append((u, v, weight))</a:t>
            </a:r>
            <a:br/>
            <a:r>
              <a:rPr>
                <a:latin typeface="Courier"/>
              </a:rPr>
              <a:t>        total_weight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weight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neighbor, w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graph.adj[v]: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neighbor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visited:</a:t>
            </a:r>
            <a:br/>
            <a:r>
              <a:rPr>
                <a:latin typeface="Courier"/>
              </a:rPr>
              <a:t>                heapq.heappush(edges, (w, v, neighbor))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mst, total_weight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Prim’s completely, on Week 10’s exact MST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Graph edges (weight,u,v): (1,0,1),(2,1,2),(3,0,2),(4,2,3),(5,1,3)
  -- Week 10 Lecture 3's exact 4-node graph
visited={0}, edges=[(1,0,1),(3,0,2)]
Pop(1,0,1). v=1 not visited → ADD. visited={0,1}. mst=[(0,1,1)]. Push (2,1,2),(5,1,3)
edges now: [(2,1,2),(3,0,2),(5,1,3)]
Pop(2,1,2). v=2 not visited → ADD. visited={0,1,2}. mst=[(0,1,1),(1,2,2)]. Push (4,2,3)
edges now: [(3,0,2),(4,2,3),(5,1,3)]
Pop(3,0,2). v=2 ALREADY visited → skip
Pop(4,2,3). v=3 not visited → ADD. visited={0,1,2,3}. mst=[(0,1,1),(1,2,2),(2,3,4)]
Total weight: 1+2+4=7 — IDENTICAL to Week 10 Lecture 3's Kruskal's result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Verifying against the wrong graph: a real bug, caught by checking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Prim’s vs. Dijkstra’s: nearly identical code, genuinely different meaning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Prim’s tree growing, one edge at a time</a:t>
            </a:r>
          </a:p>
        </p:txBody>
      </p:sp>
      <p:pic>
        <p:nvPicPr>
          <p:cNvPr descr="figures/prim-growth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79600"/>
            <a:ext cx="82296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Consolidating this entire double week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decision procedure for choosing among all five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when even these algorithms become impractical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Prim’s cost, and when it beats Kruskal’s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whole course’s arc, seen from this closing point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choose the algorithm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quiz check — a different scenario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quiz — answer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final consolidated cost table, side by side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Prim’s Algorithm, and Consolidating the Graph Algorithms Unit</dc:title>
  <dc:creator>Dr. Innocent Nyalala</dc:creator>
  <cp:keywords/>
  <dcterms:created xsi:type="dcterms:W3CDTF">2026-08-04T15:12:06Z</dcterms:created>
  <dcterms:modified xsi:type="dcterms:W3CDTF">2026-08-04T15:12:06Z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Weeks 12-13, Lecture 4</vt:lpwstr>
  </property>
  <property fmtid="{D5CDD505-2E9C-101B-9397-08002B2CF9AE}" pid="10" name="toc-title">
    <vt:lpwstr>Table of contents</vt:lpwstr>
  </property>
</Properties>
</file>