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svg" ContentType="image/svg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4" Type="http://schemas.openxmlformats.org/officeDocument/2006/relationships/viewProps" Target="viewProps.xml" /><Relationship Id="rId2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6" Type="http://schemas.openxmlformats.org/officeDocument/2006/relationships/tableStyles" Target="tableStyles.xml" /><Relationship Id="rId2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svg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Stacks and Queues at Work: Expression Evaluation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Programming and Data Structures — Week 3, Lecture 4</a:t>
            </a:r>
            <a:br/>
            <a:br/>
            <a:r>
              <a:rPr/>
              <a:t>Dr. Innocent Nyalala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Objectives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Outline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calculator’s problem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Infix vs. postfix notation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Evaluating postfix with a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evaluate_postfix(tokens):</a:t>
            </a:r>
            <a:br/>
            <a:r>
              <a:rPr>
                <a:latin typeface="Courier"/>
              </a:rPr>
              <a:t>    stack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[]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tok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tokens: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tok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"+-*/"</a:t>
            </a:r>
            <a:r>
              <a:rPr>
                <a:latin typeface="Courier"/>
              </a:rPr>
              <a:t>:</a:t>
            </a:r>
            <a:br/>
            <a:r>
              <a:rPr>
                <a:latin typeface="Courier"/>
              </a:rPr>
              <a:t>            b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stack.pop()     </a:t>
            </a:r>
            <a:r>
              <a:rPr i="1">
                <a:solidFill>
                  <a:srgbClr val="60A0B0"/>
                </a:solidFill>
                <a:latin typeface="Courier"/>
              </a:rPr>
              <a:t># second operand — popped FIRST</a:t>
            </a:r>
            <a:br/>
            <a:r>
              <a:rPr>
                <a:latin typeface="Courier"/>
              </a:rPr>
              <a:t>            a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stack.pop()     </a:t>
            </a:r>
            <a:r>
              <a:rPr i="1">
                <a:solidFill>
                  <a:srgbClr val="60A0B0"/>
                </a:solidFill>
                <a:latin typeface="Courier"/>
              </a:rPr>
              <a:t># first operand</a:t>
            </a:r>
            <a:br/>
            <a:r>
              <a:rPr>
                <a:latin typeface="Courier"/>
              </a:rPr>
              <a:t>        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tok </a:t>
            </a:r>
            <a:r>
              <a:rPr>
                <a:solidFill>
                  <a:srgbClr val="666666"/>
                </a:solidFill>
                <a:latin typeface="Courier"/>
              </a:rPr>
              <a:t>==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'+'</a:t>
            </a:r>
            <a:r>
              <a:rPr>
                <a:latin typeface="Courier"/>
              </a:rPr>
              <a:t>: stack.append(a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b)</a:t>
            </a:r>
            <a:br/>
            <a:r>
              <a:rPr>
                <a:latin typeface="Courier"/>
              </a:rPr>
              <a:t>            </a:t>
            </a:r>
            <a:r>
              <a:rPr b="1">
                <a:solidFill>
                  <a:srgbClr val="007020"/>
                </a:solidFill>
                <a:latin typeface="Courier"/>
              </a:rPr>
              <a:t>elif</a:t>
            </a:r>
            <a:r>
              <a:rPr>
                <a:latin typeface="Courier"/>
              </a:rPr>
              <a:t> tok </a:t>
            </a:r>
            <a:r>
              <a:rPr>
                <a:solidFill>
                  <a:srgbClr val="666666"/>
                </a:solidFill>
                <a:latin typeface="Courier"/>
              </a:rPr>
              <a:t>==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'-'</a:t>
            </a:r>
            <a:r>
              <a:rPr>
                <a:latin typeface="Courier"/>
              </a:rPr>
              <a:t>: stack.append(a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latin typeface="Courier"/>
              </a:rPr>
              <a:t> b)</a:t>
            </a:r>
            <a:br/>
            <a:r>
              <a:rPr>
                <a:latin typeface="Courier"/>
              </a:rPr>
              <a:t>            </a:t>
            </a:r>
            <a:r>
              <a:rPr b="1">
                <a:solidFill>
                  <a:srgbClr val="007020"/>
                </a:solidFill>
                <a:latin typeface="Courier"/>
              </a:rPr>
              <a:t>elif</a:t>
            </a:r>
            <a:r>
              <a:rPr>
                <a:latin typeface="Courier"/>
              </a:rPr>
              <a:t> tok </a:t>
            </a:r>
            <a:r>
              <a:rPr>
                <a:solidFill>
                  <a:srgbClr val="666666"/>
                </a:solidFill>
                <a:latin typeface="Courier"/>
              </a:rPr>
              <a:t>==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'*'</a:t>
            </a:r>
            <a:r>
              <a:rPr>
                <a:latin typeface="Courier"/>
              </a:rPr>
              <a:t>: stack.append(a 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 b)</a:t>
            </a:r>
            <a:br/>
            <a:r>
              <a:rPr>
                <a:latin typeface="Courier"/>
              </a:rPr>
              <a:t>            </a:t>
            </a:r>
            <a:r>
              <a:rPr b="1">
                <a:solidFill>
                  <a:srgbClr val="007020"/>
                </a:solidFill>
                <a:latin typeface="Courier"/>
              </a:rPr>
              <a:t>elif</a:t>
            </a:r>
            <a:r>
              <a:rPr>
                <a:latin typeface="Courier"/>
              </a:rPr>
              <a:t> tok </a:t>
            </a:r>
            <a:r>
              <a:rPr>
                <a:solidFill>
                  <a:srgbClr val="666666"/>
                </a:solidFill>
                <a:latin typeface="Courier"/>
              </a:rPr>
              <a:t>==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'/'</a:t>
            </a:r>
            <a:r>
              <a:rPr>
                <a:latin typeface="Courier"/>
              </a:rPr>
              <a:t>: stack.append(a </a:t>
            </a:r>
            <a:r>
              <a:rPr>
                <a:solidFill>
                  <a:srgbClr val="666666"/>
                </a:solidFill>
                <a:latin typeface="Courier"/>
              </a:rPr>
              <a:t>/</a:t>
            </a:r>
            <a:r>
              <a:rPr>
                <a:latin typeface="Courier"/>
              </a:rPr>
              <a:t> b)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else</a:t>
            </a:r>
            <a:r>
              <a:rPr>
                <a:latin typeface="Courier"/>
              </a:rPr>
              <a:t>:</a:t>
            </a:r>
            <a:br/>
            <a:r>
              <a:rPr>
                <a:latin typeface="Courier"/>
              </a:rPr>
              <a:t>            stack.append(</a:t>
            </a:r>
            <a:r>
              <a:rPr>
                <a:solidFill>
                  <a:srgbClr val="008000"/>
                </a:solidFill>
                <a:latin typeface="Courier"/>
              </a:rPr>
              <a:t>float</a:t>
            </a:r>
            <a:r>
              <a:rPr>
                <a:latin typeface="Courier"/>
              </a:rPr>
              <a:t>(tok))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stack.pop()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Tracing postfix evaluation on </a:t>
            </a:r>
            <a:r>
              <a:rPr>
                <a:latin typeface="Courier"/>
              </a:rPr>
              <a:t>3 4 2 * +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Token '3': push 3        → stack: [3]
Token '4': push 4        → stack: [3, 4]
Token '2': push 2        → stack: [3, 4, 2]
Token '*': pop 2 (b), pop 4 (a), push 4*2=8   → stack: [3, 8]
Token '+': pop 8 (b), pop 3 (a), push 3+8=11  → stack: [11]
Result: pop → 11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Tracing a trickier example with subtraction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Converting infix to postfix: the shunting-yard algorithm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shunting-yard algorithm, in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PRECEDENCE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{</a:t>
            </a:r>
            <a:r>
              <a:rPr>
                <a:solidFill>
                  <a:srgbClr val="4070A0"/>
                </a:solidFill>
                <a:latin typeface="Courier"/>
              </a:rPr>
              <a:t>'+'</a:t>
            </a:r>
            <a:r>
              <a:rPr>
                <a:latin typeface="Courier"/>
              </a:rPr>
              <a:t>: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'-'</a:t>
            </a:r>
            <a:r>
              <a:rPr>
                <a:latin typeface="Courier"/>
              </a:rPr>
              <a:t>: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'*'</a:t>
            </a:r>
            <a:r>
              <a:rPr>
                <a:latin typeface="Courier"/>
              </a:rPr>
              <a:t>: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'/'</a:t>
            </a:r>
            <a:r>
              <a:rPr>
                <a:latin typeface="Courier"/>
              </a:rPr>
              <a:t>: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latin typeface="Courier"/>
              </a:rPr>
              <a:t>}</a:t>
            </a:r>
            <a:br/>
            <a:br/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infix_to_postfix(tokens):</a:t>
            </a:r>
            <a:br/>
            <a:r>
              <a:rPr>
                <a:latin typeface="Courier"/>
              </a:rPr>
              <a:t>    output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[]</a:t>
            </a:r>
            <a:br/>
            <a:r>
              <a:rPr>
                <a:latin typeface="Courier"/>
              </a:rPr>
              <a:t>    ops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[]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tok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tokens: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tok </a:t>
            </a:r>
            <a:r>
              <a:rPr b="1">
                <a:solidFill>
                  <a:srgbClr val="007020"/>
                </a:solidFill>
                <a:latin typeface="Courier"/>
              </a:rPr>
              <a:t>not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PRECEDENCE:</a:t>
            </a:r>
            <a:br/>
            <a:r>
              <a:rPr>
                <a:latin typeface="Courier"/>
              </a:rPr>
              <a:t>            output.append(tok)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else</a:t>
            </a:r>
            <a:r>
              <a:rPr>
                <a:latin typeface="Courier"/>
              </a:rPr>
              <a:t>:</a:t>
            </a:r>
            <a:br/>
            <a:r>
              <a:rPr>
                <a:latin typeface="Courier"/>
              </a:rPr>
              <a:t>            </a:t>
            </a:r>
            <a:r>
              <a:rPr b="1">
                <a:solidFill>
                  <a:srgbClr val="007020"/>
                </a:solidFill>
                <a:latin typeface="Courier"/>
              </a:rPr>
              <a:t>while</a:t>
            </a:r>
            <a:r>
              <a:rPr>
                <a:latin typeface="Courier"/>
              </a:rPr>
              <a:t> (ops </a:t>
            </a:r>
            <a:r>
              <a:rPr b="1">
                <a:solidFill>
                  <a:srgbClr val="007020"/>
                </a:solidFill>
                <a:latin typeface="Courier"/>
              </a:rPr>
              <a:t>and</a:t>
            </a:r>
            <a:r>
              <a:rPr>
                <a:latin typeface="Courier"/>
              </a:rPr>
              <a:t> ops[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]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PRECEDENCE</a:t>
            </a:r>
            <a:br/>
            <a:r>
              <a:rPr>
                <a:latin typeface="Courier"/>
              </a:rPr>
              <a:t>                   </a:t>
            </a:r>
            <a:r>
              <a:rPr b="1">
                <a:solidFill>
                  <a:srgbClr val="007020"/>
                </a:solidFill>
                <a:latin typeface="Courier"/>
              </a:rPr>
              <a:t>and</a:t>
            </a:r>
            <a:r>
              <a:rPr>
                <a:latin typeface="Courier"/>
              </a:rPr>
              <a:t> PRECEDENCE[ops[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]] </a:t>
            </a:r>
            <a:r>
              <a:rPr>
                <a:solidFill>
                  <a:srgbClr val="666666"/>
                </a:solidFill>
                <a:latin typeface="Courier"/>
              </a:rPr>
              <a:t>&gt;=</a:t>
            </a:r>
            <a:r>
              <a:rPr>
                <a:latin typeface="Courier"/>
              </a:rPr>
              <a:t> PRECEDENCE[tok]):</a:t>
            </a:r>
            <a:br/>
            <a:r>
              <a:rPr>
                <a:latin typeface="Courier"/>
              </a:rPr>
              <a:t>                output.append(ops.pop())</a:t>
            </a:r>
            <a:br/>
            <a:r>
              <a:rPr>
                <a:latin typeface="Courier"/>
              </a:rPr>
              <a:t>            ops.append(tok)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while</a:t>
            </a:r>
            <a:r>
              <a:rPr>
                <a:latin typeface="Courier"/>
              </a:rPr>
              <a:t> ops:</a:t>
            </a:r>
            <a:br/>
            <a:r>
              <a:rPr>
                <a:latin typeface="Courier"/>
              </a:rPr>
              <a:t>        output.append(ops.pop())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output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Tracing shunting-yard on </a:t>
            </a:r>
            <a:r>
              <a:rPr>
                <a:latin typeface="Courier"/>
              </a:rPr>
              <a:t>3 + 4 *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'3': output=[3]                          ops=[]
'+': ops empty → push               output=[3]  ops=[+]
'4': output=[3,4]                        ops=[+]
'*': top is '+', prec(+)=1 &lt; prec(*)=2 → don't pop, push '*'
     output=[3,4]  ops=[+,*]
'2': output=[3,4,2]                      ops=[+,*]
end: pop all → output=[3,4,2,*,+]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Tracing a case where precedence forces an early pop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Putting both together: a working calculator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calculate(infix_tokens):</a:t>
            </a:r>
            <a:br/>
            <a:r>
              <a:rPr>
                <a:latin typeface="Courier"/>
              </a:rPr>
              <a:t>    postfix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infix_to_postfix(infix_tokens)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evaluate_postfix(postfix)</a:t>
            </a:r>
            <a:br/>
            <a:br/>
            <a:r>
              <a:rPr>
                <a:solidFill>
                  <a:srgbClr val="008000"/>
                </a:solidFill>
                <a:latin typeface="Courier"/>
              </a:rPr>
              <a:t>print</a:t>
            </a:r>
            <a:r>
              <a:rPr>
                <a:latin typeface="Courier"/>
              </a:rPr>
              <a:t>(calculate([</a:t>
            </a:r>
            <a:r>
              <a:rPr>
                <a:solidFill>
                  <a:srgbClr val="4070A0"/>
                </a:solidFill>
                <a:latin typeface="Courier"/>
              </a:rPr>
              <a:t>'3'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'+'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'4'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'*'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'2'</a:t>
            </a:r>
            <a:r>
              <a:rPr>
                <a:latin typeface="Courier"/>
              </a:rPr>
              <a:t>]))   </a:t>
            </a:r>
            <a:r>
              <a:rPr i="1">
                <a:solidFill>
                  <a:srgbClr val="60A0B0"/>
                </a:solidFill>
                <a:latin typeface="Courier"/>
              </a:rPr>
              <a:t># 11.0</a:t>
            </a:r>
            <a:br/>
            <a:r>
              <a:rPr>
                <a:solidFill>
                  <a:srgbClr val="008000"/>
                </a:solidFill>
                <a:latin typeface="Courier"/>
              </a:rPr>
              <a:t>print</a:t>
            </a:r>
            <a:r>
              <a:rPr>
                <a:latin typeface="Courier"/>
              </a:rPr>
              <a:t>(calculate([</a:t>
            </a:r>
            <a:r>
              <a:rPr>
                <a:solidFill>
                  <a:srgbClr val="4070A0"/>
                </a:solidFill>
                <a:latin typeface="Courier"/>
              </a:rPr>
              <a:t>'10'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'-'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'2'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'*'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'3'</a:t>
            </a:r>
            <a:r>
              <a:rPr>
                <a:latin typeface="Courier"/>
              </a:rPr>
              <a:t>]))  </a:t>
            </a:r>
            <a:r>
              <a:rPr i="1">
                <a:solidFill>
                  <a:srgbClr val="60A0B0"/>
                </a:solidFill>
                <a:latin typeface="Courier"/>
              </a:rPr>
              <a:t># 4.0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picture: two stacks doing two different jobs</a:t>
            </a:r>
          </a:p>
        </p:txBody>
      </p:sp>
      <p:pic>
        <p:nvPicPr>
          <p:cNvPr descr="figures/expression-pipeline.sv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524000"/>
            <a:ext cx="8229600" cy="2743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MTech addition — the monotonic stack pattern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MTech addition — the monotonic stack, in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next_greater_elements(arr):</a:t>
            </a:r>
            <a:br/>
            <a:r>
              <a:rPr>
                <a:latin typeface="Courier"/>
              </a:rPr>
              <a:t>    result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[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] 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len</a:t>
            </a:r>
            <a:r>
              <a:rPr>
                <a:latin typeface="Courier"/>
              </a:rPr>
              <a:t>(arr)</a:t>
            </a:r>
            <a:br/>
            <a:r>
              <a:rPr>
                <a:latin typeface="Courier"/>
              </a:rPr>
              <a:t>    stack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[]      </a:t>
            </a:r>
            <a:r>
              <a:rPr i="1">
                <a:solidFill>
                  <a:srgbClr val="60A0B0"/>
                </a:solidFill>
                <a:latin typeface="Courier"/>
              </a:rPr>
              <a:t># indices, kept with decreasing values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i, x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enumerate</a:t>
            </a:r>
            <a:r>
              <a:rPr>
                <a:latin typeface="Courier"/>
              </a:rPr>
              <a:t>(arr):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while</a:t>
            </a:r>
            <a:r>
              <a:rPr>
                <a:latin typeface="Courier"/>
              </a:rPr>
              <a:t> stack </a:t>
            </a:r>
            <a:r>
              <a:rPr b="1">
                <a:solidFill>
                  <a:srgbClr val="007020"/>
                </a:solidFill>
                <a:latin typeface="Courier"/>
              </a:rPr>
              <a:t>and</a:t>
            </a:r>
            <a:r>
              <a:rPr>
                <a:latin typeface="Courier"/>
              </a:rPr>
              <a:t> arr[stack[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]] 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 x:</a:t>
            </a:r>
            <a:br/>
            <a:r>
              <a:rPr>
                <a:latin typeface="Courier"/>
              </a:rPr>
              <a:t>            result[stack.pop()]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x</a:t>
            </a:r>
            <a:br/>
            <a:r>
              <a:rPr>
                <a:latin typeface="Courier"/>
              </a:rPr>
              <a:t>        stack.append(i)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result</a:t>
            </a:r>
            <a:br/>
            <a:br/>
            <a:r>
              <a:rPr>
                <a:solidFill>
                  <a:srgbClr val="008000"/>
                </a:solidFill>
                <a:latin typeface="Courier"/>
              </a:rPr>
              <a:t>print</a:t>
            </a:r>
            <a:r>
              <a:rPr>
                <a:latin typeface="Courier"/>
              </a:rPr>
              <a:t>(next_greater_elements([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4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latin typeface="Courier"/>
              </a:rPr>
              <a:t>]))   </a:t>
            </a:r>
            <a:r>
              <a:rPr i="1">
                <a:solidFill>
                  <a:srgbClr val="60A0B0"/>
                </a:solidFill>
                <a:latin typeface="Courier"/>
              </a:rPr>
              <a:t># [4, 2, 4, -1, -1]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this matters beyond calculators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Exercise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Quiz — evaluate it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Quiz — answer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Summary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Stacks and Queues at Work: Expression Evaluation</dc:title>
  <dc:creator>Dr. Innocent Nyalala</dc:creator>
  <cp:keywords/>
  <dcterms:created xsi:type="dcterms:W3CDTF">2026-08-03T20:32:59Z</dcterms:created>
  <dcterms:modified xsi:type="dcterms:W3CDTF">2026-08-03T20:32:59Z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header-includes">
    <vt:lpwstr/>
  </property>
  <property fmtid="{D5CDD505-2E9C-101B-9397-08002B2CF9AE}" pid="6" name="include-after">
    <vt:lpwstr/>
  </property>
  <property fmtid="{D5CDD505-2E9C-101B-9397-08002B2CF9AE}" pid="7" name="include-before">
    <vt:lpwstr/>
  </property>
  <property fmtid="{D5CDD505-2E9C-101B-9397-08002B2CF9AE}" pid="8" name="labels">
    <vt:lpwstr/>
  </property>
  <property fmtid="{D5CDD505-2E9C-101B-9397-08002B2CF9AE}" pid="9" name="subtitle">
    <vt:lpwstr>Programming and Data Structures — Week 3, Lecture 4</vt:lpwstr>
  </property>
  <property fmtid="{D5CDD505-2E9C-101B-9397-08002B2CF9AE}" pid="10" name="toc-title">
    <vt:lpwstr>Table of contents</vt:lpwstr>
  </property>
</Properties>
</file>