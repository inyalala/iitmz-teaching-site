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Big-O: Why We Count Operations, Not Seconds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Programming and Data Structures — Week 1, Lecture 4</a:t>
            </a:r>
            <a:br/>
            <a:br/>
            <a:r>
              <a:rPr/>
              <a:t>Dr. Innocent Nyalala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Objectives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problem: finding a contact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contacts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"Zara"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"Amina"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"John"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"Priya"</a:t>
            </a:r>
            <a:r>
              <a:rPr>
                <a:latin typeface="Courier"/>
              </a:rPr>
              <a:t>, ...]  </a:t>
            </a:r>
            <a:r>
              <a:rPr i="1">
                <a:solidFill>
                  <a:srgbClr val="60A0B0"/>
                </a:solidFill>
                <a:latin typeface="Courier"/>
              </a:rPr>
              <a:t># 1,000 names, unsorted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find_linear(contacts, name):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i, c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enumerate</a:t>
            </a:r>
            <a:r>
              <a:rPr>
                <a:latin typeface="Courier"/>
              </a:rPr>
              <a:t>(contacts):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name: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i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1 — O(1): the speed-dial slot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speed_dial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{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"Mum"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"Amina"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"Work"</a:t>
            </a:r>
            <a:r>
              <a:rPr>
                <a:latin typeface="Courier"/>
              </a:rPr>
              <a:t>}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(speed_dial[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])   </a:t>
            </a:r>
            <a:r>
              <a:rPr i="1">
                <a:solidFill>
                  <a:srgbClr val="60A0B0"/>
                </a:solidFill>
                <a:latin typeface="Courier"/>
              </a:rPr>
              <a:t># "Amina" — one lookup, regardless of dict size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2 — O(log n): the guessing game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binary_search(sorted_contacts, name):</a:t>
            </a:r>
            <a:br/>
            <a:r>
              <a:rPr>
                <a:latin typeface="Courier"/>
              </a:rPr>
              <a:t>    lo, hi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(sorted_contacts)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while</a:t>
            </a:r>
            <a:r>
              <a:rPr>
                <a:latin typeface="Courier"/>
              </a:rPr>
              <a:t> lo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hi:</a:t>
            </a:r>
            <a:br/>
            <a:r>
              <a:rPr>
                <a:latin typeface="Courier"/>
              </a:rPr>
              <a:t>        mid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(lo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hi) </a:t>
            </a:r>
            <a:r>
              <a:rPr>
                <a:solidFill>
                  <a:srgbClr val="666666"/>
                </a:solidFill>
                <a:latin typeface="Courier"/>
              </a:rPr>
              <a:t>//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sorted_contacts[mid]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name: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mid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elif</a:t>
            </a:r>
            <a:r>
              <a:rPr>
                <a:latin typeface="Courier"/>
              </a:rPr>
              <a:t> sorted_contacts[mid]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name:</a:t>
            </a:r>
            <a:br/>
            <a:r>
              <a:rPr>
                <a:latin typeface="Courier"/>
              </a:rPr>
              <a:t>            lo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mid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    hi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mid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3 — O(n): checking every contact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find_linear(contacts, name):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i, c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enumerate</a:t>
            </a:r>
            <a:r>
              <a:rPr>
                <a:latin typeface="Courier"/>
              </a:rPr>
              <a:t>(contacts):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name: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i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4 — O(n log n): sorting the list first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5 — O(n²): comparing every pair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has_duplicate_birthday(birthdays):</a:t>
            </a:r>
            <a:br/>
            <a:r>
              <a:rPr>
                <a:latin typeface="Courier"/>
              </a:rPr>
              <a:t>    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(birthdays)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i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(n):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j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(i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n):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birthdays[i]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birthdays[j]:</a:t>
            </a:r>
            <a:br/>
            <a:r>
              <a:rPr>
                <a:latin typeface="Courier"/>
              </a:rPr>
              <a:t>        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chart that makes it visual</a:t>
            </a:r>
          </a:p>
        </p:txBody>
      </p:sp>
      <p:pic>
        <p:nvPicPr>
          <p:cNvPr descr="figures/growth-rates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0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Quiz — classify these, right now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Quiz — answers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Big-O: Why We Count Operations, Not Seconds</dc:title>
  <dc:creator>Dr. Innocent Nyalala</dc:creator>
  <cp:keywords/>
  <dcterms:created xsi:type="dcterms:W3CDTF">2026-08-03T20:15:11Z</dcterms:created>
  <dcterms:modified xsi:type="dcterms:W3CDTF">2026-08-03T20:15:11Z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subtitle">
    <vt:lpwstr>Programming and Data Structures — Week 1, Lecture 4</vt:lpwstr>
  </property>
  <property fmtid="{D5CDD505-2E9C-101B-9397-08002B2CF9AE}" pid="10" name="toc-title">
    <vt:lpwstr>Table of contents</vt:lpwstr>
  </property>
</Properties>
</file>