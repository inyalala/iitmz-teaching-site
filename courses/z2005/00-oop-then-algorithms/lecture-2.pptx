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notesMaster" Target="notesMasters/notesMaster1.xml" /><Relationship Id="rId13" Type="http://schemas.openxmlformats.org/officeDocument/2006/relationships/viewProps" Target="viewProps.xml" /><Relationship Id="rId1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5" Type="http://schemas.openxmlformats.org/officeDocument/2006/relationships/tableStyles" Target="tableStyles.xml" /><Relationship Id="rId14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Ask: “whose fault is this crash?” Students often blame the caller who wrote </a:t>
            </a:r>
            <a:r>
              <a:rPr>
                <a:latin typeface="Courier"/>
              </a:rPr>
              <a:t>p.x = "banana"</a:t>
            </a:r>
            <a:r>
              <a:rPr/>
              <a:t>. Push back: the class had a chance to refuse that and did not take it. That reframing is the entire point of this lecture.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Encapsulation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Programming and Data Structures — Week 1, Lecture 2</a:t>
            </a:r>
            <a:br/>
            <a:br/>
            <a:r>
              <a:rPr/>
              <a:t>Dr. Innocent Nyalala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Last time, and the gap it leaves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p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Point(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p.x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"banana"</a:t>
            </a:r>
            <a:r>
              <a:rPr>
                <a:latin typeface="Courier"/>
              </a:rPr>
              <a:t>          </a:t>
            </a:r>
            <a:r>
              <a:rPr i="1">
                <a:solidFill>
                  <a:srgbClr val="60A0B0"/>
                </a:solidFill>
                <a:latin typeface="Courier"/>
              </a:rPr>
              <a:t># legal Python. Nothing stops this.</a:t>
            </a:r>
            <a:br/>
            <a:r>
              <a:rPr>
                <a:latin typeface="Courier"/>
              </a:rPr>
              <a:t>p.distance_to(Point(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))   </a:t>
            </a:r>
            <a:r>
              <a:rPr i="1">
                <a:solidFill>
                  <a:srgbClr val="60A0B0"/>
                </a:solidFill>
                <a:latin typeface="Courier"/>
              </a:rPr>
              <a:t># crashes, far from where the mistake was made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Encapsulation: hide the data, expose the behavior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BankAccount: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__init__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, balance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):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._balance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balance     </a:t>
            </a:r>
            <a:r>
              <a:rPr i="1">
                <a:solidFill>
                  <a:srgbClr val="60A0B0"/>
                </a:solidFill>
                <a:latin typeface="Courier"/>
              </a:rPr>
              <a:t># leading underscore: "do not touch directly"</a:t>
            </a:r>
            <a:br/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deposit(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, amount):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amount </a:t>
            </a:r>
            <a:r>
              <a:rPr>
                <a:solidFill>
                  <a:srgbClr val="666666"/>
                </a:solidFill>
                <a:latin typeface="Courier"/>
              </a:rPr>
              <a:t>&lt;=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:</a:t>
            </a:r>
            <a:br/>
            <a:r>
              <a:rPr>
                <a:latin typeface="Courier"/>
              </a:rPr>
              <a:t>            </a:t>
            </a:r>
            <a:r>
              <a:rPr b="1">
                <a:solidFill>
                  <a:srgbClr val="007020"/>
                </a:solidFill>
                <a:latin typeface="Courier"/>
              </a:rPr>
              <a:t>raise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BC7A00"/>
                </a:solidFill>
                <a:latin typeface="Courier"/>
              </a:rPr>
              <a:t>ValueError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"deposit must be positive"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._balance </a:t>
            </a:r>
            <a:r>
              <a:rPr>
                <a:solidFill>
                  <a:srgbClr val="666666"/>
                </a:solidFill>
                <a:latin typeface="Courier"/>
              </a:rPr>
              <a:t>+=</a:t>
            </a:r>
            <a:r>
              <a:rPr>
                <a:latin typeface="Courier"/>
              </a:rPr>
              <a:t> amount</a:t>
            </a:r>
            <a:br/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withdraw(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, amount):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amount 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._balance:</a:t>
            </a:r>
            <a:br/>
            <a:r>
              <a:rPr>
                <a:latin typeface="Courier"/>
              </a:rPr>
              <a:t>            </a:t>
            </a:r>
            <a:r>
              <a:rPr b="1">
                <a:solidFill>
                  <a:srgbClr val="007020"/>
                </a:solidFill>
                <a:latin typeface="Courier"/>
              </a:rPr>
              <a:t>raise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BC7A00"/>
                </a:solidFill>
                <a:latin typeface="Courier"/>
              </a:rPr>
              <a:t>ValueError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"insufficient funds"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._balance </a:t>
            </a:r>
            <a:r>
              <a:rPr>
                <a:solidFill>
                  <a:srgbClr val="666666"/>
                </a:solidFill>
                <a:latin typeface="Courier"/>
              </a:rPr>
              <a:t>-=</a:t>
            </a:r>
            <a:r>
              <a:rPr>
                <a:latin typeface="Courier"/>
              </a:rPr>
              <a:t> amount</a:t>
            </a:r>
            <a:br/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balance(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):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._balance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the leading underscore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account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BankAccount(</a:t>
            </a:r>
            <a:r>
              <a:rPr>
                <a:solidFill>
                  <a:srgbClr val="40A070"/>
                </a:solidFill>
                <a:latin typeface="Courier"/>
              </a:rPr>
              <a:t>100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account.deposit(</a:t>
            </a:r>
            <a:r>
              <a:rPr>
                <a:solidFill>
                  <a:srgbClr val="40A070"/>
                </a:solidFill>
                <a:latin typeface="Courier"/>
              </a:rPr>
              <a:t>50</a:t>
            </a:r>
            <a:r>
              <a:rPr>
                <a:latin typeface="Courier"/>
              </a:rPr>
              <a:t>)</a:t>
            </a:r>
            <a:br/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(account.balance())     </a:t>
            </a:r>
            <a:r>
              <a:rPr i="1">
                <a:solidFill>
                  <a:srgbClr val="60A0B0"/>
                </a:solidFill>
                <a:latin typeface="Courier"/>
              </a:rPr>
              <a:t># 150 — the only sanctioned way to read it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Tracing a bad withdrawal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account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BankAccount(</a:t>
            </a:r>
            <a:r>
              <a:rPr>
                <a:solidFill>
                  <a:srgbClr val="40A070"/>
                </a:solidFill>
                <a:latin typeface="Courier"/>
              </a:rPr>
              <a:t>100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account.withdraw(</a:t>
            </a:r>
            <a:r>
              <a:rPr>
                <a:solidFill>
                  <a:srgbClr val="40A070"/>
                </a:solidFill>
                <a:latin typeface="Courier"/>
              </a:rPr>
              <a:t>1000</a:t>
            </a:r>
            <a:r>
              <a:rPr>
                <a:latin typeface="Courier"/>
              </a:rPr>
              <a:t>)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second worked example: enforcing a valid range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Temperature:</a:t>
            </a:r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"""Stores a temperature in Celsius, refusing physically impossible values."""</a:t>
            </a:r>
            <a:br/>
            <a:br/>
            <a:r>
              <a:rPr>
                <a:latin typeface="Courier"/>
              </a:rPr>
              <a:t>    ABSOLUTE_ZERO_C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solidFill>
                  <a:srgbClr val="40A070"/>
                </a:solidFill>
                <a:latin typeface="Courier"/>
              </a:rPr>
              <a:t>273.15</a:t>
            </a:r>
            <a:br/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__init__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, celsius):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celsius 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.ABSOLUTE_ZERO_C:</a:t>
            </a:r>
            <a:br/>
            <a:r>
              <a:rPr>
                <a:latin typeface="Courier"/>
              </a:rPr>
              <a:t>            </a:t>
            </a:r>
            <a:r>
              <a:rPr b="1">
                <a:solidFill>
                  <a:srgbClr val="007020"/>
                </a:solidFill>
                <a:latin typeface="Courier"/>
              </a:rPr>
              <a:t>raise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BC7A00"/>
                </a:solidFill>
                <a:latin typeface="Courier"/>
              </a:rPr>
              <a:t>ValueError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BB6688"/>
                </a:solidFill>
                <a:latin typeface="Courier"/>
              </a:rPr>
              <a:t>f"</a:t>
            </a:r>
            <a:r>
              <a:rPr>
                <a:solidFill>
                  <a:srgbClr val="4070A0"/>
                </a:solidFill>
                <a:latin typeface="Courier"/>
              </a:rPr>
              <a:t>{</a:t>
            </a:r>
            <a:r>
              <a:rPr>
                <a:latin typeface="Courier"/>
              </a:rPr>
              <a:t>celsius</a:t>
            </a:r>
            <a:r>
              <a:rPr>
                <a:solidFill>
                  <a:srgbClr val="4070A0"/>
                </a:solidFill>
                <a:latin typeface="Courier"/>
              </a:rPr>
              <a:t>}</a:t>
            </a:r>
            <a:r>
              <a:rPr>
                <a:solidFill>
                  <a:srgbClr val="BB6688"/>
                </a:solidFill>
                <a:latin typeface="Courier"/>
              </a:rPr>
              <a:t> C is below absolute zero"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._celsius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celsius</a:t>
            </a:r>
            <a:br/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celsius(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):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._celsius</a:t>
            </a:r>
            <a:br/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fahrenheit(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):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._celsius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9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/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32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encapsulation is not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Exercise (do this before the lab)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Before next lecture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Encapsulation</dc:title>
  <dc:creator>Dr. Innocent Nyalala</dc:creator>
  <cp:keywords/>
  <dcterms:created xsi:type="dcterms:W3CDTF">2026-08-02T22:40:44Z</dcterms:created>
  <dcterms:modified xsi:type="dcterms:W3CDTF">2026-08-02T22:40:44Z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header-includes">
    <vt:lpwstr/>
  </property>
  <property fmtid="{D5CDD505-2E9C-101B-9397-08002B2CF9AE}" pid="6" name="include-after">
    <vt:lpwstr/>
  </property>
  <property fmtid="{D5CDD505-2E9C-101B-9397-08002B2CF9AE}" pid="7" name="include-before">
    <vt:lpwstr/>
  </property>
  <property fmtid="{D5CDD505-2E9C-101B-9397-08002B2CF9AE}" pid="8" name="labels">
    <vt:lpwstr/>
  </property>
  <property fmtid="{D5CDD505-2E9C-101B-9397-08002B2CF9AE}" pid="9" name="subtitle">
    <vt:lpwstr>Programming and Data Structures — Week 1, Lecture 2</vt:lpwstr>
  </property>
  <property fmtid="{D5CDD505-2E9C-101B-9397-08002B2CF9AE}" pid="10" name="toc-title">
    <vt:lpwstr>Table of contents</vt:lpwstr>
  </property>
</Properties>
</file>