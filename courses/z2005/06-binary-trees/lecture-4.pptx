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svg" ContentType="image/svg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4" Type="http://schemas.openxmlformats.org/officeDocument/2006/relationships/viewProps" Target="viewProps.xml" /><Relationship Id="rId23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6" Type="http://schemas.openxmlformats.org/officeDocument/2006/relationships/tableStyles" Target="tableStyles.xml" /><Relationship Id="rId25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1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1.svg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image" Target="../media/image2.svg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pPr lvl="0" indent="0" marL="0">
              <a:buNone/>
            </a:pPr>
            <a:r>
              <a:rPr/>
              <a:t>Trees at Work: Ordered Sets and the BST/Sorting Connection</a:t>
            </a:r>
          </a:p>
        </p:txBody>
      </p:sp>
      <p:sp>
        <p:nvSpPr>
          <p:cNvPr id="3" name="Subtitle 2"/>
          <p:cNvSpPr>
            <a:spLocks noGrp="1"/>
          </p:cNvSpPr>
          <p:nvPr>
            <p:ph idx="1" type="subTitle"/>
          </p:nvPr>
        </p:nvSpPr>
        <p:spPr>
          <a:xfrm>
            <a:off x="1371600" y="2914650"/>
            <a:ext cx="6400800" cy="1314450"/>
          </a:xfrm>
        </p:spPr>
        <p:txBody>
          <a:bodyPr/>
          <a:lstStyle/>
          <a:p>
            <a:pPr lvl="0" indent="0" marL="0">
              <a:buNone/>
            </a:pPr>
            <a:r>
              <a:rPr/>
              <a:t>Programming and Data Structures — Week 7, Lecture 4</a:t>
            </a:r>
            <a:br/>
            <a:br/>
            <a:r>
              <a:rPr/>
              <a:t>Dr. Innocent Nyalala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Objectives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Outline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library-shelf-with-labels analogy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Range query, in code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range_query(node, low, high, result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result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result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[]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node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result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node.value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low:</a:t>
            </a:r>
            <a:br/>
            <a:r>
              <a:rPr>
                <a:latin typeface="Courier"/>
              </a:rPr>
              <a:t>        range_query(node.left, low, high, result)   </a:t>
            </a:r>
            <a:r>
              <a:rPr i="1">
                <a:solidFill>
                  <a:srgbClr val="60A0B0"/>
                </a:solidFill>
                <a:latin typeface="Courier"/>
              </a:rPr>
              <a:t># left subtree may contain values in range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low 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latin typeface="Courier"/>
              </a:rPr>
              <a:t> node.value </a:t>
            </a:r>
            <a:r>
              <a:rPr>
                <a:solidFill>
                  <a:srgbClr val="666666"/>
                </a:solidFill>
                <a:latin typeface="Courier"/>
              </a:rPr>
              <a:t>&lt;=</a:t>
            </a:r>
            <a:r>
              <a:rPr>
                <a:latin typeface="Courier"/>
              </a:rPr>
              <a:t> high:</a:t>
            </a:r>
            <a:br/>
            <a:r>
              <a:rPr>
                <a:latin typeface="Courier"/>
              </a:rPr>
              <a:t>        result.append(node.value)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node.value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high:</a:t>
            </a:r>
            <a:br/>
            <a:r>
              <a:rPr>
                <a:latin typeface="Courier"/>
              </a:rPr>
              <a:t>        range_query(node.right, low, high, result)  </a:t>
            </a:r>
            <a:r>
              <a:rPr i="1">
                <a:solidFill>
                  <a:srgbClr val="60A0B0"/>
                </a:solidFill>
                <a:latin typeface="Courier"/>
              </a:rPr>
              <a:t># right subtree may contain values in range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result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range_query(3, 9) on Lecture 1’s example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Tree:        8
           /   \
          3     10
         / \      \
        1   6      14
range_query(8, 3, 9):
  8&gt;3 → recurse left into 3
    3&gt;3? no → skip further left recursion into node 1 entirely (1 is too small)
    3 in [3,9]? yes → append 3
    3&lt;9 → recurse right into 6
      6&gt;3 → recurse left (None, nothing)
      6 in [3,9]? yes → append 6
      6&lt;9 → recurse right (None, nothing)
  8 in [3,9]? yes → append 8
  8&lt;9 → recurse right into 10
    10&gt;3 → recurse left (None, nothing)
    10 in [3,9]? no → don't append
    10&lt;9? no → SKIP recursing into 14 entirely (14 is too large)
Result: [3, 6, 8]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floor(target=7) on Lecture 1’s example tree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Tree:        8
           /   \
          3     10
         / \      \
        1   6      14
floor(8, 7):
  8 != 7, 8 &gt; 7 → recurse left into node 3
    floor(3, 7):
      3 != 7, 3 &lt; 7 → check right subtree first
        floor(6, 7):
          6 != 7, 6 &lt; 7 → recurse right (None) → right_floor = None
          right_floor is None → return node's OWN value, 6
      right_floor = 6, not None → return 6
Result: floor(7) = 6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Floor and ceiling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floor(node, target):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node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node.value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target: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node.value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node.value </a:t>
            </a:r>
            <a:r>
              <a:rPr>
                <a:solidFill>
                  <a:srgbClr val="666666"/>
                </a:solidFill>
                <a:latin typeface="Courier"/>
              </a:rPr>
              <a:t>&gt;</a:t>
            </a:r>
            <a:r>
              <a:rPr>
                <a:latin typeface="Courier"/>
              </a:rPr>
              <a:t> target: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floor(node.left, target)      </a:t>
            </a:r>
            <a:r>
              <a:rPr i="1">
                <a:solidFill>
                  <a:srgbClr val="60A0B0"/>
                </a:solidFill>
                <a:latin typeface="Courier"/>
              </a:rPr>
              <a:t># floor must be smaller — only left subtree can hold it</a:t>
            </a:r>
            <a:br/>
            <a:r>
              <a:rPr>
                <a:latin typeface="Courier"/>
              </a:rPr>
              <a:t>    right_floor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floor(node.right, target)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right_floor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right_floor </a:t>
            </a:r>
            <a:r>
              <a:rPr b="1">
                <a:solidFill>
                  <a:srgbClr val="007020"/>
                </a:solidFill>
                <a:latin typeface="Courier"/>
              </a:rPr>
              <a:t>is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not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r>
              <a:rPr>
                <a:latin typeface="Courier"/>
              </a:rPr>
              <a:t>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node.value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Treesort: a sorting algorithm, for free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treesort(arr):</a:t>
            </a:r>
            <a:br/>
            <a:r>
              <a:rPr>
                <a:latin typeface="Courier"/>
              </a:rPr>
              <a:t>    root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19177C"/>
                </a:solidFill>
                <a:latin typeface="Courier"/>
              </a:rPr>
              <a:t>None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for</a:t>
            </a:r>
            <a:r>
              <a:rPr>
                <a:latin typeface="Courier"/>
              </a:rPr>
              <a:t> value </a:t>
            </a:r>
            <a:r>
              <a:rPr b="1">
                <a:solidFill>
                  <a:srgbClr val="007020"/>
                </a:solidFill>
                <a:latin typeface="Courier"/>
              </a:rPr>
              <a:t>in</a:t>
            </a:r>
            <a:r>
              <a:rPr>
                <a:latin typeface="Courier"/>
              </a:rPr>
              <a:t> arr:</a:t>
            </a:r>
            <a:br/>
            <a:r>
              <a:rPr>
                <a:latin typeface="Courier"/>
              </a:rPr>
              <a:t>        root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bst_insert(root, value)    </a:t>
            </a:r>
            <a:r>
              <a:rPr i="1">
                <a:solidFill>
                  <a:srgbClr val="60A0B0"/>
                </a:solidFill>
                <a:latin typeface="Courier"/>
              </a:rPr>
              <a:t># Week 7 Lecture 2's insert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inorder(root)                    </a:t>
            </a:r>
            <a:r>
              <a:rPr i="1">
                <a:solidFill>
                  <a:srgbClr val="60A0B0"/>
                </a:solidFill>
                <a:latin typeface="Courier"/>
              </a:rPr>
              <a:t># Week 7 Lecture 1's inorder traversal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Tracing treesort on </a:t>
            </a:r>
            <a:r>
              <a:rPr>
                <a:latin typeface="Courier"/>
              </a:rPr>
              <a:t>[5, 2, 8, 1, 9]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>
                <a:latin typeface="Courier"/>
              </a:rPr>
              <a:t>insert 5: root=5
insert 2: 5→left: 2
insert 8: 5→right: 8
insert 1: 5→left:2→left:1
insert 9: 5→right:8→right:9
Tree:        5
            / \
           2   8
          /     \
         1        9
inorder(5): [1, 2, 5, 8, 9]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Why treesort is rarely used, precisely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treesort’s two phases</a:t>
            </a:r>
          </a:p>
        </p:txBody>
      </p:sp>
      <p:pic>
        <p:nvPicPr>
          <p:cNvPr descr="figures/treesort-phases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701800"/>
            <a:ext cx="8229600" cy="2374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ordered-set abstraction, and why it matters ahead of Week 8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picture: range query pruning, visualized</a:t>
            </a:r>
          </a:p>
        </p:txBody>
      </p:sp>
      <p:pic>
        <p:nvPicPr>
          <p:cNvPr descr="figures/binary-tree-basic.sv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1181100" y="1193800"/>
            <a:ext cx="6781800" cy="33909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MTech addition — augmented trees: order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>
              <a:buNone/>
            </a:pPr>
            <a:r>
              <a:rPr b="1">
                <a:solidFill>
                  <a:srgbClr val="007020"/>
                </a:solidFill>
                <a:latin typeface="Courier"/>
              </a:rPr>
              <a:t>class</a:t>
            </a:r>
            <a:r>
              <a:rPr>
                <a:latin typeface="Courier"/>
              </a:rPr>
              <a:t> AugmentedNode(TreeNode):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, value):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008000"/>
                </a:solidFill>
                <a:latin typeface="Courier"/>
              </a:rPr>
              <a:t>super</a:t>
            </a:r>
            <a:r>
              <a:rPr>
                <a:latin typeface="Courier"/>
              </a:rPr>
              <a:t>().</a:t>
            </a:r>
            <a:r>
              <a:rPr>
                <a:solidFill>
                  <a:srgbClr val="06287E"/>
                </a:solidFill>
                <a:latin typeface="Courier"/>
              </a:rPr>
              <a:t>__init__</a:t>
            </a:r>
            <a:r>
              <a:rPr>
                <a:latin typeface="Courier"/>
              </a:rPr>
              <a:t>(value)</a:t>
            </a:r>
            <a:br/>
            <a:r>
              <a:rPr>
                <a:latin typeface="Courier"/>
              </a:rPr>
              <a:t>        </a:t>
            </a:r>
            <a:r>
              <a:rPr>
                <a:solidFill>
                  <a:srgbClr val="19177C"/>
                </a:solidFill>
                <a:latin typeface="Courier"/>
              </a:rPr>
              <a:t>self</a:t>
            </a:r>
            <a:r>
              <a:rPr>
                <a:latin typeface="Courier"/>
              </a:rPr>
              <a:t>.subtree_size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     </a:t>
            </a:r>
            <a:r>
              <a:rPr i="1">
                <a:solidFill>
                  <a:srgbClr val="60A0B0"/>
                </a:solidFill>
                <a:latin typeface="Courier"/>
              </a:rPr>
              <a:t># count of nodes in this node's own subtree, including itself</a:t>
            </a:r>
            <a:br/>
            <a:br/>
            <a:r>
              <a:rPr b="1">
                <a:solidFill>
                  <a:srgbClr val="007020"/>
                </a:solidFill>
                <a:latin typeface="Courier"/>
              </a:rPr>
              <a:t>def</a:t>
            </a:r>
            <a:r>
              <a:rPr>
                <a:latin typeface="Courier"/>
              </a:rPr>
              <a:t> select_kth(node, k):</a:t>
            </a:r>
            <a:br/>
            <a:r>
              <a:rPr>
                <a:latin typeface="Courier"/>
              </a:rPr>
              <a:t>    left_size </a:t>
            </a:r>
            <a:r>
              <a:rPr>
                <a:solidFill>
                  <a:srgbClr val="666666"/>
                </a:solidFill>
                <a:latin typeface="Courier"/>
              </a:rPr>
              <a:t>=</a:t>
            </a:r>
            <a:r>
              <a:rPr>
                <a:latin typeface="Courier"/>
              </a:rPr>
              <a:t> node.left.subtree_size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node.left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0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if</a:t>
            </a:r>
            <a:r>
              <a:rPr>
                <a:latin typeface="Courier"/>
              </a:rPr>
              <a:t> k </a:t>
            </a:r>
            <a:r>
              <a:rPr>
                <a:solidFill>
                  <a:srgbClr val="666666"/>
                </a:solidFill>
                <a:latin typeface="Courier"/>
              </a:rPr>
              <a:t>==</a:t>
            </a:r>
            <a:r>
              <a:rPr>
                <a:latin typeface="Courier"/>
              </a:rPr>
              <a:t> left_size: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node.value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elif</a:t>
            </a:r>
            <a:r>
              <a:rPr>
                <a:latin typeface="Courier"/>
              </a:rPr>
              <a:t> k </a:t>
            </a:r>
            <a:r>
              <a:rPr>
                <a:solidFill>
                  <a:srgbClr val="666666"/>
                </a:solidFill>
                <a:latin typeface="Courier"/>
              </a:rPr>
              <a:t>&lt;</a:t>
            </a:r>
            <a:r>
              <a:rPr>
                <a:latin typeface="Courier"/>
              </a:rPr>
              <a:t> left_size: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select_kth(node.left, k)</a:t>
            </a:r>
            <a:br/>
            <a:r>
              <a:rPr>
                <a:latin typeface="Courier"/>
              </a:rPr>
              <a:t>    </a:t>
            </a:r>
            <a:r>
              <a:rPr b="1">
                <a:solidFill>
                  <a:srgbClr val="007020"/>
                </a:solidFill>
                <a:latin typeface="Courier"/>
              </a:rPr>
              <a:t>else</a:t>
            </a:r>
            <a:r>
              <a:rPr>
                <a:latin typeface="Courier"/>
              </a:rPr>
              <a:t>:</a:t>
            </a:r>
            <a:br/>
            <a:r>
              <a:rPr>
                <a:latin typeface="Courier"/>
              </a:rPr>
              <a:t>        </a:t>
            </a:r>
            <a:r>
              <a:rPr b="1">
                <a:solidFill>
                  <a:srgbClr val="007020"/>
                </a:solidFill>
                <a:latin typeface="Courier"/>
              </a:rPr>
              <a:t>return</a:t>
            </a:r>
            <a:r>
              <a:rPr>
                <a:latin typeface="Courier"/>
              </a:rPr>
              <a:t> select_kth(node.right, k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left_size </a:t>
            </a:r>
            <a:r>
              <a:rPr>
                <a:solidFill>
                  <a:srgbClr val="666666"/>
                </a:solidFill>
                <a:latin typeface="Courier"/>
              </a:rPr>
              <a:t>-</a:t>
            </a:r>
            <a:r>
              <a:rPr>
                <a:latin typeface="Courier"/>
              </a:rPr>
              <a:t> </a:t>
            </a:r>
            <a:r>
              <a:rPr>
                <a:solidFill>
                  <a:srgbClr val="40A070"/>
                </a:solidFill>
                <a:latin typeface="Courier"/>
              </a:rPr>
              <a:t>1</a:t>
            </a:r>
            <a:r>
              <a:rPr>
                <a:latin typeface="Courier"/>
              </a:rPr>
              <a:t>)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Comparing every structure covered so far, for one final table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Exercise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Revisiting Week 6’s leaderboard case study, resolved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choose the structure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Quiz — answer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Summary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Trees at Work: Ordered Sets and the BST/Sorting Connection</dc:title>
  <dc:creator>Dr. Innocent Nyalala</dc:creator>
  <cp:keywords/>
  <dcterms:created xsi:type="dcterms:W3CDTF">2026-08-04T07:59:49Z</dcterms:created>
  <dcterms:modified xsi:type="dcterms:W3CDTF">2026-08-04T07:59:49Z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uthors">
    <vt:lpwstr/>
  </property>
  <property fmtid="{D5CDD505-2E9C-101B-9397-08002B2CF9AE}" pid="3" name="biblio-config">
    <vt:lpwstr>True</vt:lpwstr>
  </property>
  <property fmtid="{D5CDD505-2E9C-101B-9397-08002B2CF9AE}" pid="4" name="by-author">
    <vt:lpwstr/>
  </property>
  <property fmtid="{D5CDD505-2E9C-101B-9397-08002B2CF9AE}" pid="5" name="header-includes">
    <vt:lpwstr/>
  </property>
  <property fmtid="{D5CDD505-2E9C-101B-9397-08002B2CF9AE}" pid="6" name="include-after">
    <vt:lpwstr/>
  </property>
  <property fmtid="{D5CDD505-2E9C-101B-9397-08002B2CF9AE}" pid="7" name="include-before">
    <vt:lpwstr/>
  </property>
  <property fmtid="{D5CDD505-2E9C-101B-9397-08002B2CF9AE}" pid="8" name="labels">
    <vt:lpwstr/>
  </property>
  <property fmtid="{D5CDD505-2E9C-101B-9397-08002B2CF9AE}" pid="9" name="subtitle">
    <vt:lpwstr>Programming and Data Structures — Week 7, Lecture 4</vt:lpwstr>
  </property>
  <property fmtid="{D5CDD505-2E9C-101B-9397-08002B2CF9AE}" pid="10" name="toc-title">
    <vt:lpwstr>Table of contents</vt:lpwstr>
  </property>
</Properties>
</file>