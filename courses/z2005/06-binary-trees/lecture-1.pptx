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sv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Binary Trees: The First Branching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7,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family-tree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linked list to tree: one more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TreeNode: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value):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value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.left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     </a:t>
            </a:r>
            <a:r>
              <a:rPr i="1">
                <a:solidFill>
                  <a:srgbClr val="60A0B0"/>
                </a:solidFill>
                <a:latin typeface="Courier"/>
              </a:rPr>
              <a:t># reference to the left child, or None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.right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    </a:t>
            </a:r>
            <a:r>
              <a:rPr i="1">
                <a:solidFill>
                  <a:srgbClr val="60A0B0"/>
                </a:solidFill>
                <a:latin typeface="Courier"/>
              </a:rPr>
              <a:t># reference to the right child, or None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a tree by hand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root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TreeNode(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root.left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TreeNode(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root.right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TreeNode(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root.left.left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TreeNode(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root.left.right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TreeNode(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root.right.right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TreeNode(</a:t>
            </a:r>
            <a:r>
              <a:rPr>
                <a:solidFill>
                  <a:srgbClr val="40A070"/>
                </a:solidFill>
                <a:latin typeface="Courier"/>
              </a:rPr>
              <a:t>14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this tree, drawn out</a:t>
            </a:r>
          </a:p>
        </p:txBody>
      </p:sp>
      <p:pic>
        <p:nvPicPr>
          <p:cNvPr descr="figures/binary-tree-basic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Preorder traversal: visit, then left, then 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preorder(node, result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result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result.append(node.value)     </a:t>
            </a:r>
            <a:r>
              <a:rPr i="1">
                <a:solidFill>
                  <a:srgbClr val="60A0B0"/>
                </a:solidFill>
                <a:latin typeface="Courier"/>
              </a:rPr>
              <a:t># VISIT first</a:t>
            </a:r>
            <a:br/>
            <a:r>
              <a:rPr>
                <a:latin typeface="Courier"/>
              </a:rPr>
              <a:t>        preorder(node.left, result)    </a:t>
            </a:r>
            <a:r>
              <a:rPr i="1">
                <a:solidFill>
                  <a:srgbClr val="60A0B0"/>
                </a:solidFill>
                <a:latin typeface="Courier"/>
              </a:rPr>
              <a:t># then left subtree</a:t>
            </a:r>
            <a:br/>
            <a:r>
              <a:rPr>
                <a:latin typeface="Courier"/>
              </a:rPr>
              <a:t>        preorder(node.right, result)   </a:t>
            </a:r>
            <a:r>
              <a:rPr i="1">
                <a:solidFill>
                  <a:srgbClr val="60A0B0"/>
                </a:solidFill>
                <a:latin typeface="Courier"/>
              </a:rPr>
              <a:t># then right subtree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Inorder traversal: left, then visit, then 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inorder(node, result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result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inorder(node.left, result)     </a:t>
            </a:r>
            <a:r>
              <a:rPr i="1">
                <a:solidFill>
                  <a:srgbClr val="60A0B0"/>
                </a:solidFill>
                <a:latin typeface="Courier"/>
              </a:rPr>
              <a:t># left subtree first</a:t>
            </a:r>
            <a:br/>
            <a:r>
              <a:rPr>
                <a:latin typeface="Courier"/>
              </a:rPr>
              <a:t>        result.append(node.value)       </a:t>
            </a:r>
            <a:r>
              <a:rPr i="1">
                <a:solidFill>
                  <a:srgbClr val="60A0B0"/>
                </a:solidFill>
                <a:latin typeface="Courier"/>
              </a:rPr>
              <a:t># then VISIT</a:t>
            </a:r>
            <a:br/>
            <a:r>
              <a:rPr>
                <a:latin typeface="Courier"/>
              </a:rPr>
              <a:t>        inorder(node.right, result)     </a:t>
            </a:r>
            <a:r>
              <a:rPr i="1">
                <a:solidFill>
                  <a:srgbClr val="60A0B0"/>
                </a:solidFill>
                <a:latin typeface="Courier"/>
              </a:rPr>
              <a:t># then right subtree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Postorder traversal: left, then right, then visit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postorder(node, result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result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postorder(node.left, result)    </a:t>
            </a:r>
            <a:r>
              <a:rPr i="1">
                <a:solidFill>
                  <a:srgbClr val="60A0B0"/>
                </a:solidFill>
                <a:latin typeface="Courier"/>
              </a:rPr>
              <a:t># left subtree first</a:t>
            </a:r>
            <a:br/>
            <a:r>
              <a:rPr>
                <a:latin typeface="Courier"/>
              </a:rPr>
              <a:t>        postorder(node.right, result)   </a:t>
            </a:r>
            <a:r>
              <a:rPr i="1">
                <a:solidFill>
                  <a:srgbClr val="60A0B0"/>
                </a:solidFill>
                <a:latin typeface="Courier"/>
              </a:rPr>
              <a:t># then right subtree</a:t>
            </a:r>
            <a:br/>
            <a:r>
              <a:rPr>
                <a:latin typeface="Courier"/>
              </a:rPr>
              <a:t>        result.append(node.value)        </a:t>
            </a:r>
            <a:r>
              <a:rPr i="1">
                <a:solidFill>
                  <a:srgbClr val="60A0B0"/>
                </a:solidFill>
                <a:latin typeface="Courier"/>
              </a:rPr>
              <a:t># then VISIT last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preorder completely,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preorder(8):  visit 8 → result=[8]
  preorder(3): visit 3 → result=[8,3]
    preorder(1): visit 1 → result=[8,3,1]
      preorder(None-left): nothing
      preorder(None-right): nothing
    preorder(6): visit 6 → result=[8,3,1,6]
  preorder(10): visit 10 → result=[8,3,1,6,10]
    preorder(None-left): nothing
    preorder(14): visit 14 → result=[8,3,1,6,10,14]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Height and size: the relationship that matters most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relationship is the whole point of the next few lectures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balanced vs. degenerate, same 7 nodes</a:t>
            </a:r>
          </a:p>
        </p:txBody>
      </p:sp>
      <p:pic>
        <p:nvPicPr>
          <p:cNvPr descr="figures/balanced-vs-degenerat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22400"/>
            <a:ext cx="82296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expression trees, connecting back to Week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     +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  / \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 3   *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    / \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     4   2</a:t>
            </a:r>
            <a:br/>
            <a:r>
              <a:rPr>
                <a:latin typeface="Courier"/>
              </a:rPr>
              <a:t>root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TreeNode(</a:t>
            </a:r>
            <a:r>
              <a:rPr>
                <a:solidFill>
                  <a:srgbClr val="4070A0"/>
                </a:solidFill>
                <a:latin typeface="Courier"/>
              </a:rPr>
              <a:t>'+'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root.left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TreeNode(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root.right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TreeNode(</a:t>
            </a:r>
            <a:r>
              <a:rPr>
                <a:solidFill>
                  <a:srgbClr val="4070A0"/>
                </a:solidFill>
                <a:latin typeface="Courier"/>
              </a:rPr>
              <a:t>'*'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root.right.left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TreeNode(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root.right.right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TreeNode(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Level-order traversal: a fourth option, using a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collections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deque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level_order(root):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root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result, q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[], deque([root])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q:</a:t>
            </a:r>
            <a:br/>
            <a:r>
              <a:rPr>
                <a:latin typeface="Courier"/>
              </a:rPr>
              <a:t>        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q.popleft()</a:t>
            </a:r>
            <a:br/>
            <a:r>
              <a:rPr>
                <a:latin typeface="Courier"/>
              </a:rPr>
              <a:t>        result.append(node.value)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node.left:  q.append(node.left)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node.right: q.append(node.right)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four traversals, side by side, on one tree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trace the traversal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Trees: The First Branching Structure</dc:title>
  <dc:creator>Dr. Innocent Nyalala</dc:creator>
  <cp:keywords/>
  <dcterms:created xsi:type="dcterms:W3CDTF">2026-08-04T07:57:40Z</dcterms:created>
  <dcterms:modified xsi:type="dcterms:W3CDTF">2026-08-04T07:57:40Z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7, Lecture 1</vt:lpwstr>
  </property>
  <property fmtid="{D5CDD505-2E9C-101B-9397-08002B2CF9AE}" pid="10" name="toc-title">
    <vt:lpwstr>Table of contents</vt:lpwstr>
  </property>
</Properties>
</file>