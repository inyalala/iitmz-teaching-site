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Self-Balancing Trees: AVL Rotations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7,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self-correcting bookshelf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AVL balance condition, precisely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Computing balance factors on a small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5  (bf: height(left=2 nodes,h=1) - height(right=1 node,h=0) = 1-0=1)
       / \
      3   8   (bf: 0 - 0 = 0, leaf)
     /
    1        (bf: 0, leaf)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single rotation: right-right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 (bf of 10 is -2, unbalanced):     After (right rotation... actually a
    10                                    LEFT rotation, since heavy on the right):
      \                                          20
       20                                       /  \
         \                    ==&gt;              10   30
          30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rotate_left(node):</a:t>
            </a:r>
            <a:br/>
            <a:r>
              <a:rPr>
                <a:latin typeface="Courier"/>
              </a:rPr>
              <a:t>    new_root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node.right</a:t>
            </a:r>
            <a:br/>
            <a:r>
              <a:rPr>
                <a:latin typeface="Courier"/>
              </a:rPr>
              <a:t>    node.right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new_root.left</a:t>
            </a:r>
            <a:br/>
            <a:r>
              <a:rPr>
                <a:latin typeface="Courier"/>
              </a:rPr>
              <a:t>    new_root.left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new_root       </a:t>
            </a:r>
            <a:r>
              <a:rPr i="1">
                <a:solidFill>
                  <a:srgbClr val="60A0B0"/>
                </a:solidFill>
                <a:latin typeface="Courier"/>
              </a:rPr>
              <a:t># new_root replaces 'node' in the parent's reference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single rotation: left-left case, mirrored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 (bf of 30 is +2):        After (a RIGHT rotation, heavy on the left):
        30                              20
       /                               /  \
      20                             10    30
     /
    10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rotate_right(node):</a:t>
            </a:r>
            <a:br/>
            <a:r>
              <a:rPr>
                <a:latin typeface="Courier"/>
              </a:rPr>
              <a:t>    new_root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node.left</a:t>
            </a:r>
            <a:br/>
            <a:r>
              <a:rPr>
                <a:latin typeface="Courier"/>
              </a:rPr>
              <a:t>    node.left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new_root.right</a:t>
            </a:r>
            <a:br/>
            <a:r>
              <a:rPr>
                <a:latin typeface="Courier"/>
              </a:rPr>
              <a:t>    new_root.right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new_root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double rotation: left-right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 (bf of 30 is +2, but LEFT child 10 is right-heavy):
        30
       /
      10
        \
         20
Step 1: rotate_left on 10's subtree:      Step 2: rotate_right on 30's subtree:
        30                                        20
       /                                         /  \
      20                    ==&gt;                 10    30
     /
    10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double rotation: right-left case, mirrored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 (bf of 10 is -2, but RIGHT child 30 is left-heavy):
    10
      \
       30
      /
     20
Step 1: rotate_right on 30's subtree:      Step 2: rotate_left on 10's subtree:
    10                                              20
      \                                            /  \
       20                    ==&gt;                  10    30
         \
          30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full insertion sequence, traced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insert 10:  10
insert 20:  10 → right: 20         (bf of 10: -1, OK)
insert 30:  10 → right: 20 → right: 30   (bf of 10: -2!  right-right case)
  rotate_left(10) → new root 20:
        20
       /  \
      10   30
insert 25:  20 → right: 30 → left: 25    (bf of 30: +1, OK. bf of 20: still -1, OK)
        20
       /  \
      10   30
          /
         25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before and after the critical rotation</a:t>
            </a:r>
          </a:p>
        </p:txBody>
      </p:sp>
      <p:pic>
        <p:nvPicPr>
          <p:cNvPr descr="figures/avl-rotat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Why AVL height is guaranteed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red-black trees, a different trade-off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Rotation cost, precisely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Comparing all tree structures covered so far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identify the rotation case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quiz check — left-left case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quiz — answer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Self-Balancing Trees: AVL Rotations</dc:title>
  <dc:creator>Dr. Innocent Nyalala</dc:creator>
  <cp:keywords/>
  <dcterms:created xsi:type="dcterms:W3CDTF">2026-08-04T07:59:02Z</dcterms:created>
  <dcterms:modified xsi:type="dcterms:W3CDTF">2026-08-04T07:59:02Z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7, Lecture 3</vt:lpwstr>
  </property>
  <property fmtid="{D5CDD505-2E9C-101B-9397-08002B2CF9AE}" pid="10" name="toc-title">
    <vt:lpwstr>Table of contents</vt:lpwstr>
  </property>
</Properties>
</file>