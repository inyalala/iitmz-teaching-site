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Binary Search Trees: Search, Insert, Delete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7,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phone-book-with-branches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BST property, defined precisely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Checking the property: a common mistake, exposed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5
      / \
     3   8
        / \
       4   9      &lt;-- INVALID: 4 is in 5's right subtree, but 4 &lt; 5!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Search,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bst_search(node, target):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node.value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target: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node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target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node.value: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bst_search(node.left, target)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bst_search(node.right, target)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search for 6 in a concrete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Tree:        8
           /   \
          3     10
         / \      \
        1   6      14
search(root, 6):
  6 vs 8: 6&lt;8 → go left, to node 3
  6 vs 3: 6&gt;3 → go right, to node 6
  6 vs 6: MATCH → return node 6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bst_insert(node, value):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TreeNode(value)          </a:t>
            </a:r>
            <a:r>
              <a:rPr i="1">
                <a:solidFill>
                  <a:srgbClr val="60A0B0"/>
                </a:solidFill>
                <a:latin typeface="Courier"/>
              </a:rPr>
              <a:t># base case: create the new node here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node.value:</a:t>
            </a:r>
            <a:br/>
            <a:r>
              <a:rPr>
                <a:latin typeface="Courier"/>
              </a:rPr>
              <a:t>        node.left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bst_insert(node.left, value)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node.value:</a:t>
            </a:r>
            <a:br/>
            <a:r>
              <a:rPr>
                <a:latin typeface="Courier"/>
              </a:rPr>
              <a:t>        node.right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bst_insert(node.right, value)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node    </a:t>
            </a:r>
            <a:r>
              <a:rPr i="1">
                <a:solidFill>
                  <a:srgbClr val="60A0B0"/>
                </a:solidFill>
                <a:latin typeface="Courier"/>
              </a:rPr>
              <a:t># unchanged if value already exists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insert(7) on the same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insert(root=8, 7):
  7&lt;8 → recurse left into node 3
  insert(3, 7): 7&gt;3 → recurse right into node 6
    insert(6, 7): 7&gt;6 → recurse right into node.right (None)
      insert(None, 7): create TreeNode(7), return it
    node 6's right = new node 7
  node 3's right unchanged (still points to 6)
Result:        8
              /   \
             3     10
            / \      \
           1   6      14
                \
                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Delete: the easy case, a leaf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bst_delete(node, value):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node.value:</a:t>
            </a:r>
            <a:br/>
            <a:r>
              <a:rPr>
                <a:latin typeface="Courier"/>
              </a:rPr>
              <a:t>        node.left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bst_delete(node.left, value)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node.value:</a:t>
            </a:r>
            <a:br/>
            <a:r>
              <a:rPr>
                <a:latin typeface="Courier"/>
              </a:rPr>
              <a:t>        node.right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bst_delete(node.right, value)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FOUND the node to delete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node.left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node.right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Case 1: leaf — just remove it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(cases 2 and 3 follow)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node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Delete: one child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node.left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node.right     </a:t>
            </a:r>
            <a:r>
              <a:rPr i="1">
                <a:solidFill>
                  <a:srgbClr val="60A0B0"/>
                </a:solidFill>
                <a:latin typeface="Courier"/>
              </a:rPr>
              <a:t># Case 2a: only a right child — it takes the deleted node's place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node.right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node.left      </a:t>
            </a:r>
            <a:r>
              <a:rPr i="1">
                <a:solidFill>
                  <a:srgbClr val="60A0B0"/>
                </a:solidFill>
                <a:latin typeface="Courier"/>
              </a:rPr>
              <a:t># Case 2b: only a left child — it takes the deleted node's place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Delete: two children — the genuinely hard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Case 3: two children — replace with the in-order SUCCESSOR</a:t>
            </a:r>
            <a:br/>
            <a:r>
              <a:rPr>
                <a:latin typeface="Courier"/>
              </a:rPr>
              <a:t>        successor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node.right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successor.left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successor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successor.left      </a:t>
            </a:r>
            <a:r>
              <a:rPr i="1">
                <a:solidFill>
                  <a:srgbClr val="60A0B0"/>
                </a:solidFill>
                <a:latin typeface="Courier"/>
              </a:rPr>
              <a:t># smallest value in the right subtree</a:t>
            </a:r>
            <a:br/>
            <a:r>
              <a:rPr>
                <a:latin typeface="Courier"/>
              </a:rPr>
              <a:t>        node.value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successor.value         </a:t>
            </a:r>
            <a:r>
              <a:rPr i="1">
                <a:solidFill>
                  <a:srgbClr val="60A0B0"/>
                </a:solidFill>
                <a:latin typeface="Courier"/>
              </a:rPr>
              <a:t># copy successor's value up</a:t>
            </a:r>
            <a:br/>
            <a:r>
              <a:rPr>
                <a:latin typeface="Courier"/>
              </a:rPr>
              <a:t>        node.right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bst_delete(node.right, successor.value)   </a:t>
            </a:r>
            <a:r>
              <a:rPr i="1">
                <a:solidFill>
                  <a:srgbClr val="60A0B0"/>
                </a:solidFill>
                <a:latin typeface="Courier"/>
              </a:rPr>
              <a:t># then delete the successor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delete(3) — a two-children case,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Tree:        8
           /   \
          3     10
         / \      \
        1   6      14
delete(3): node 3 has TWO children (1 and 6)
  successor = node 3's right subtree (rooted at 6), walk .left: 6 has no left → successor = 6
  Copy: node (formerly 3)'s value becomes 6
  Delete original node 6 from the right subtree: 6 is a leaf there → Case 1, removed
Result:        8
              /   \
             6     10
            /         \
           1           14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every operation is O(h)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unresolved problem this leaves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the in-order successor, formally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is this a valid BST?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Trees: Search, Insert, Delete</dc:title>
  <dc:creator>Dr. Innocent Nyalala</dc:creator>
  <cp:keywords/>
  <dcterms:created xsi:type="dcterms:W3CDTF">2026-08-04T07:58:21Z</dcterms:created>
  <dcterms:modified xsi:type="dcterms:W3CDTF">2026-08-04T07:58:21Z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7, Lecture 2</vt:lpwstr>
  </property>
  <property fmtid="{D5CDD505-2E9C-101B-9397-08002B2CF9AE}" pid="10" name="toc-title">
    <vt:lpwstr>Table of contents</vt:lpwstr>
  </property>
</Properties>
</file>