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svg" ContentType="image/svg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4" Type="http://schemas.openxmlformats.org/officeDocument/2006/relationships/viewProps" Target="viewProps.xml" /><Relationship Id="rId2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6" Type="http://schemas.openxmlformats.org/officeDocument/2006/relationships/tableStyles" Target="tableStyles.xml" /><Relationship Id="rId2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svg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Graphs: Representation and the Two Standard Encodings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Programming and Data Structures — Week 11, Lecture 1</a:t>
            </a:r>
            <a:br/>
            <a:br/>
            <a:r>
              <a:rPr/>
              <a:t>Dr. Innocent Nyalala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Objectives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Outline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social-network analogy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Graphs, defined precisely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Directed vs. undirected, weighted vs. unweighted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concrete example graph, used throughout this lecture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Nodes: 0,1,2,3,4
Edges (undirected, unweighted): (0,1), (0,2), (1,2), (1,3), (3,4)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adjacency matrix, built from scratch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GraphMatrix: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__init__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, n):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.n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n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.matrix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[[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] 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latin typeface="Courier"/>
              </a:rPr>
              <a:t> n </a:t>
            </a:r>
            <a:r>
              <a:rPr b="1">
                <a:solidFill>
                  <a:srgbClr val="007020"/>
                </a:solidFill>
                <a:latin typeface="Courier"/>
              </a:rPr>
              <a:t>for</a:t>
            </a:r>
            <a:r>
              <a:rPr>
                <a:latin typeface="Courier"/>
              </a:rPr>
              <a:t> _ </a:t>
            </a:r>
            <a:r>
              <a:rPr b="1">
                <a:solidFill>
                  <a:srgbClr val="007020"/>
                </a:solidFill>
                <a:latin typeface="Courier"/>
              </a:rPr>
              <a:t>in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range</a:t>
            </a:r>
            <a:r>
              <a:rPr>
                <a:latin typeface="Courier"/>
              </a:rPr>
              <a:t>(n)]      </a:t>
            </a:r>
            <a:r>
              <a:rPr i="1">
                <a:solidFill>
                  <a:srgbClr val="60A0B0"/>
                </a:solidFill>
                <a:latin typeface="Courier"/>
              </a:rPr>
              <a:t># Week 1's 2D array, directly reused</a:t>
            </a:r>
            <a:br/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add_edge(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, u, v, weight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, directed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19177C"/>
                </a:solidFill>
                <a:latin typeface="Courier"/>
              </a:rPr>
              <a:t>False</a:t>
            </a:r>
            <a:r>
              <a:rPr>
                <a:latin typeface="Courier"/>
              </a:rPr>
              <a:t>):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.matrix[u][v]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weight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not</a:t>
            </a:r>
            <a:r>
              <a:rPr>
                <a:latin typeface="Courier"/>
              </a:rPr>
              <a:t> directed:</a:t>
            </a:r>
            <a:br/>
            <a:r>
              <a:rPr>
                <a:latin typeface="Courier"/>
              </a:rPr>
              <a:t>            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.matrix[v][u]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weight</a:t>
            </a:r>
            <a:br/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has_edge(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, u, v):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.matrix[u][v] </a:t>
            </a:r>
            <a:r>
              <a:rPr>
                <a:solidFill>
                  <a:srgbClr val="666666"/>
                </a:solidFill>
                <a:latin typeface="Courier"/>
              </a:rPr>
              <a:t>!=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adjacency list, built from scratch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GraphList: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__init__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, n):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.n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n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.adj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[[] </a:t>
            </a:r>
            <a:r>
              <a:rPr b="1">
                <a:solidFill>
                  <a:srgbClr val="007020"/>
                </a:solidFill>
                <a:latin typeface="Courier"/>
              </a:rPr>
              <a:t>for</a:t>
            </a:r>
            <a:r>
              <a:rPr>
                <a:latin typeface="Courier"/>
              </a:rPr>
              <a:t> _ </a:t>
            </a:r>
            <a:r>
              <a:rPr b="1">
                <a:solidFill>
                  <a:srgbClr val="007020"/>
                </a:solidFill>
                <a:latin typeface="Courier"/>
              </a:rPr>
              <a:t>in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range</a:t>
            </a:r>
            <a:r>
              <a:rPr>
                <a:latin typeface="Courier"/>
              </a:rPr>
              <a:t>(n)]     </a:t>
            </a:r>
            <a:r>
              <a:rPr i="1">
                <a:solidFill>
                  <a:srgbClr val="60A0B0"/>
                </a:solidFill>
                <a:latin typeface="Courier"/>
              </a:rPr>
              <a:t># Week 4's list-of-lists idea</a:t>
            </a:r>
            <a:br/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add_edge(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, u, v, weight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, directed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19177C"/>
                </a:solidFill>
                <a:latin typeface="Courier"/>
              </a:rPr>
              <a:t>False</a:t>
            </a:r>
            <a:r>
              <a:rPr>
                <a:latin typeface="Courier"/>
              </a:rPr>
              <a:t>):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.adj[u].append((v, weight))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not</a:t>
            </a:r>
            <a:r>
              <a:rPr>
                <a:latin typeface="Courier"/>
              </a:rPr>
              <a:t> directed:</a:t>
            </a:r>
            <a:br/>
            <a:r>
              <a:rPr>
                <a:latin typeface="Courier"/>
              </a:rPr>
              <a:t>            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.adj[v].append((u, weight))</a:t>
            </a:r>
            <a:br/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has_edge(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, u, v):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any</a:t>
            </a:r>
            <a:r>
              <a:rPr>
                <a:latin typeface="Courier"/>
              </a:rPr>
              <a:t>(neighbor </a:t>
            </a:r>
            <a:r>
              <a:rPr>
                <a:solidFill>
                  <a:srgbClr val="666666"/>
                </a:solidFill>
                <a:latin typeface="Courier"/>
              </a:rPr>
              <a:t>==</a:t>
            </a:r>
            <a:r>
              <a:rPr>
                <a:latin typeface="Courier"/>
              </a:rPr>
              <a:t> v </a:t>
            </a:r>
            <a:r>
              <a:rPr b="1">
                <a:solidFill>
                  <a:srgbClr val="007020"/>
                </a:solidFill>
                <a:latin typeface="Courier"/>
              </a:rPr>
              <a:t>for</a:t>
            </a:r>
            <a:r>
              <a:rPr>
                <a:latin typeface="Courier"/>
              </a:rPr>
              <a:t> neighbor, weight </a:t>
            </a:r>
            <a:r>
              <a:rPr b="1">
                <a:solidFill>
                  <a:srgbClr val="007020"/>
                </a:solidFill>
                <a:latin typeface="Courier"/>
              </a:rPr>
              <a:t>in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.adj[u])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Building the matrix for this exact graph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  matrix[0][1]=1, matrix[1][0]=1   (edge 0-1)
  matrix[0][2]=1, matrix[2][0]=1   (edge 0-2)
  matrix[1][2]=1, matrix[2][1]=1   (edge 1-2)
  matrix[1][3]=1, matrix[3][1]=1   (edge 1-3)
  matrix[3][4]=1, matrix[4][3]=1   (edge 3-4)
Resulting 5x5 matrix:
    0  1  2  3  4
0 [ 0  1  1  0  0 ]
1 [ 1  0  1  1  0 ]
2 [ 1  1  0  0  0 ]
3 [ 0  1  0  0  1 ]
4 [ 0  0  0  1  0 ]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picture: the same graph, two representations</a:t>
            </a:r>
          </a:p>
        </p:txBody>
      </p:sp>
      <p:pic>
        <p:nvPicPr>
          <p:cNvPr descr="figures/adjacency-matrix-vs-list.sv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333500"/>
            <a:ext cx="8229600" cy="3111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Building the list for the same exact graph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add_edge(0,1): adj[0]=[(1,1)], adj[1]=[(0,1)]
add_edge(0,2): adj[0]=[(1,1),(2,1)], adj[2]=[(0,1)]
add_edge(1,2): adj[1]=[(0,1),(2,1)], adj[2]=[(0,1),(1,1)]
add_edge(1,3): adj[1]=[(0,1),(2,1),(3,1)], adj[3]=[(1,1)]
add_edge(3,4): adj[3]=[(1,1),(4,1)], adj[4]=[(3,1)]
Final adjacency lists:
  adj[0] = [(1,1),(2,1)]
  adj[1] = [(0,1),(2,1),(3,1)]
  adj[2] = [(0,1),(1,1)]
  adj[3] = [(1,1),(4,1)]
  adj[4] = [(3,1)]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Cost comparison: when each representation wins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MTech addition — sparse vs. dense graphs, and real-world sizes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Degree, and its role in cost analysis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Exercise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Directed graphs: one asymmetric change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g_directed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GraphList(</a:t>
            </a:r>
            <a:r>
              <a:rPr>
                <a:solidFill>
                  <a:srgbClr val="40A070"/>
                </a:solidFill>
                <a:latin typeface="Courier"/>
              </a:rPr>
              <a:t>5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g_directed.add_edge(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, directed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19177C"/>
                </a:solidFill>
                <a:latin typeface="Courier"/>
              </a:rPr>
              <a:t>True</a:t>
            </a:r>
            <a:r>
              <a:rPr>
                <a:latin typeface="Courier"/>
              </a:rPr>
              <a:t>)   </a:t>
            </a:r>
            <a:r>
              <a:rPr i="1">
                <a:solidFill>
                  <a:srgbClr val="60A0B0"/>
                </a:solidFill>
                <a:latin typeface="Courier"/>
              </a:rPr>
              <a:t># only adj[0] gets an entry — NOT adj[1]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Quiz — choose the representation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Quiz — answer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closing connection: adjacency list as “array of stacks/queues”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Summary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Graphs: Representation and the Two Standard Encodings</dc:title>
  <dc:creator>Dr. Innocent Nyalala</dc:creator>
  <cp:keywords/>
  <dcterms:created xsi:type="dcterms:W3CDTF">2026-08-04T14:49:45Z</dcterms:created>
  <dcterms:modified xsi:type="dcterms:W3CDTF">2026-08-04T14:49:45Z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header-includes">
    <vt:lpwstr/>
  </property>
  <property fmtid="{D5CDD505-2E9C-101B-9397-08002B2CF9AE}" pid="6" name="include-after">
    <vt:lpwstr/>
  </property>
  <property fmtid="{D5CDD505-2E9C-101B-9397-08002B2CF9AE}" pid="7" name="include-before">
    <vt:lpwstr/>
  </property>
  <property fmtid="{D5CDD505-2E9C-101B-9397-08002B2CF9AE}" pid="8" name="labels">
    <vt:lpwstr/>
  </property>
  <property fmtid="{D5CDD505-2E9C-101B-9397-08002B2CF9AE}" pid="9" name="subtitle">
    <vt:lpwstr>Programming and Data Structures — Week 11, Lecture 1</vt:lpwstr>
  </property>
  <property fmtid="{D5CDD505-2E9C-101B-9397-08002B2CF9AE}" pid="10" name="toc-title">
    <vt:lpwstr>Table of contents</vt:lpwstr>
  </property>
</Properties>
</file>