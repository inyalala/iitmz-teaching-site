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svg" ContentType="image/svg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4" Type="http://schemas.openxmlformats.org/officeDocument/2006/relationships/viewProps" Target="viewProps.xml" /><Relationship Id="rId2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6" Type="http://schemas.openxmlformats.org/officeDocument/2006/relationships/tableStyles" Target="tableStyles.xml" /><Relationship Id="rId2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sv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Applications: Components, Cycles, and Topological Order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Programming and Data Structures — Week 11, Lecture 3</a:t>
            </a:r>
            <a:br/>
            <a:br/>
            <a:r>
              <a:rPr/>
              <a:t>Dr. Innocent Nyalala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Objectives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Outline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island-hopping analogy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Connected components: repeated traversal, nothing new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connected_components(graph, n):</a:t>
            </a:r>
            <a:br/>
            <a:r>
              <a:rPr>
                <a:latin typeface="Courier"/>
              </a:rPr>
              <a:t>    visited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set</a:t>
            </a:r>
            <a:r>
              <a:rPr>
                <a:latin typeface="Courier"/>
              </a:rPr>
              <a:t>()</a:t>
            </a:r>
            <a:br/>
            <a:r>
              <a:rPr>
                <a:latin typeface="Courier"/>
              </a:rPr>
              <a:t>    components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[]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node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range</a:t>
            </a:r>
            <a:r>
              <a:rPr>
                <a:latin typeface="Courier"/>
              </a:rPr>
              <a:t>(n):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node </a:t>
            </a:r>
            <a:r>
              <a:rPr b="1">
                <a:solidFill>
                  <a:srgbClr val="007020"/>
                </a:solidFill>
                <a:latin typeface="Courier"/>
              </a:rPr>
              <a:t>not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visited:</a:t>
            </a:r>
            <a:br/>
            <a:r>
              <a:rPr>
                <a:latin typeface="Courier"/>
              </a:rPr>
              <a:t>            component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bfs(graph, node)         </a:t>
            </a:r>
            <a:r>
              <a:rPr i="1">
                <a:solidFill>
                  <a:srgbClr val="60A0B0"/>
                </a:solidFill>
                <a:latin typeface="Courier"/>
              </a:rPr>
              <a:t># Lecture 2's BFS, unchanged</a:t>
            </a:r>
            <a:br/>
            <a:r>
              <a:rPr>
                <a:latin typeface="Courier"/>
              </a:rPr>
              <a:t>            visited.update(component)</a:t>
            </a:r>
            <a:br/>
            <a:r>
              <a:rPr>
                <a:latin typeface="Courier"/>
              </a:rPr>
              <a:t>            components.append(component)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components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Tracing connected components completely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Graph: adj[0]=[1], adj[1]=[0], adj[2]=[3], adj[3]=[2,4], adj[4]=[3], adj[5]=[]
node 0: not visited → bfs(0) = [0,1] → components=[[0,1]], visited={0,1}
node 1: visited, skip
node 2: not visited → bfs(2) = [2,3,4] → components=[[0,1],[2,3,4]], visited={0,1,2,3,4}
node 3: visited, skip
node 4: visited, skip
node 5: not visited → bfs(5) = [5] → components=[[0,1],[2,3,4],[5]], visited={0,1,2,3,4,5}
Result: 3 connected components — {0,1}, {2,3,4}, {5}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Cycle detection in an undirected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has_cycle_undirected(graph, n):</a:t>
            </a:r>
            <a:br/>
            <a:r>
              <a:rPr>
                <a:latin typeface="Courier"/>
              </a:rPr>
              <a:t>    visited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set</a:t>
            </a:r>
            <a:r>
              <a:rPr>
                <a:latin typeface="Courier"/>
              </a:rPr>
              <a:t>()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dfs_check(node, parent):</a:t>
            </a:r>
            <a:br/>
            <a:r>
              <a:rPr>
                <a:latin typeface="Courier"/>
              </a:rPr>
              <a:t>        visited.add(node)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neighbor, weight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graph.adj[node]:</a:t>
            </a:r>
            <a:br/>
            <a:r>
              <a:rPr>
                <a:latin typeface="Courier"/>
              </a:rPr>
              <a:t>    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neighbor </a:t>
            </a:r>
            <a:r>
              <a:rPr b="1">
                <a:solidFill>
                  <a:srgbClr val="007020"/>
                </a:solidFill>
                <a:latin typeface="Courier"/>
              </a:rPr>
              <a:t>not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visited:</a:t>
            </a:r>
            <a:br/>
            <a:r>
              <a:rPr>
                <a:latin typeface="Courier"/>
              </a:rPr>
              <a:t>        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dfs_check(neighbor, node):</a:t>
            </a:r>
            <a:br/>
            <a:r>
              <a:rPr>
                <a:latin typeface="Courier"/>
              </a:rPr>
              <a:t>            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True</a:t>
            </a:r>
            <a:br/>
            <a:r>
              <a:rPr>
                <a:latin typeface="Courier"/>
              </a:rPr>
              <a:t>            </a:t>
            </a:r>
            <a:r>
              <a:rPr b="1">
                <a:solidFill>
                  <a:srgbClr val="007020"/>
                </a:solidFill>
                <a:latin typeface="Courier"/>
              </a:rPr>
              <a:t>elif</a:t>
            </a:r>
            <a:r>
              <a:rPr>
                <a:latin typeface="Courier"/>
              </a:rPr>
              <a:t> neighbor </a:t>
            </a:r>
            <a:r>
              <a:rPr>
                <a:solidFill>
                  <a:srgbClr val="666666"/>
                </a:solidFill>
                <a:latin typeface="Courier"/>
              </a:rPr>
              <a:t>!=</a:t>
            </a:r>
            <a:r>
              <a:rPr>
                <a:latin typeface="Courier"/>
              </a:rPr>
              <a:t> parent:            </a:t>
            </a:r>
            <a:r>
              <a:rPr i="1">
                <a:solidFill>
                  <a:srgbClr val="60A0B0"/>
                </a:solidFill>
                <a:latin typeface="Courier"/>
              </a:rPr>
              <a:t># visited AND not where we just came from</a:t>
            </a:r>
            <a:br/>
            <a:r>
              <a:rPr>
                <a:latin typeface="Courier"/>
              </a:rPr>
              <a:t>        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          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found a genuine cycle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False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node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range</a:t>
            </a:r>
            <a:r>
              <a:rPr>
                <a:latin typeface="Courier"/>
              </a:rPr>
              <a:t>(n):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node </a:t>
            </a:r>
            <a:r>
              <a:rPr b="1">
                <a:solidFill>
                  <a:srgbClr val="007020"/>
                </a:solidFill>
                <a:latin typeface="Courier"/>
              </a:rPr>
              <a:t>not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visited:</a:t>
            </a:r>
            <a:br/>
            <a:r>
              <a:rPr>
                <a:latin typeface="Courier"/>
              </a:rPr>
              <a:t>    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dfs_check(node,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    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True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False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Tracing undirected cycle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Graph: adj[0]=[1,2], adj[1]=[0,2], adj[2]=[0,1]   -- a genuine triangle (cycle)
dfs_check(0, parent=-1): visited={0}
  neighbor 1: not visited → dfs_check(1, parent=0): visited={0,1}
    neighbor 0: visited AND is parent → skip, not a cycle
    neighbor 2: not visited → dfs_check(2, parent=1): visited={0,1,2}
      neighbor 0: visited AND NOT parent (parent is 1) → CYCLE DETECTED, return True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Cycle detection in a directed graph: why undirected’s method fails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Directed cycle detection, in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has_cycle_directed(graph, n):</a:t>
            </a:r>
            <a:br/>
            <a:r>
              <a:rPr>
                <a:latin typeface="Courier"/>
              </a:rPr>
              <a:t>    WHITE, GRAY, BLACK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       </a:t>
            </a:r>
            <a:r>
              <a:rPr i="1">
                <a:solidFill>
                  <a:srgbClr val="60A0B0"/>
                </a:solidFill>
                <a:latin typeface="Courier"/>
              </a:rPr>
              <a:t># unvisited, on current path, fully done</a:t>
            </a:r>
            <a:br/>
            <a:r>
              <a:rPr>
                <a:latin typeface="Courier"/>
              </a:rPr>
              <a:t>    color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[WHITE]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n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dfs_check(node):</a:t>
            </a:r>
            <a:br/>
            <a:r>
              <a:rPr>
                <a:latin typeface="Courier"/>
              </a:rPr>
              <a:t>        color[node]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GRAY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neighbor, weight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graph.adj[node]:</a:t>
            </a:r>
            <a:br/>
            <a:r>
              <a:rPr>
                <a:latin typeface="Courier"/>
              </a:rPr>
              <a:t>    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color[neighbor]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GRAY:</a:t>
            </a:r>
            <a:br/>
            <a:r>
              <a:rPr>
                <a:latin typeface="Courier"/>
              </a:rPr>
              <a:t>        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 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edge to a node on the CURRENT path — genuine cycle</a:t>
            </a:r>
            <a:br/>
            <a:r>
              <a:rPr>
                <a:latin typeface="Courier"/>
              </a:rPr>
              <a:t>    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color[neighbor]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WHITE </a:t>
            </a:r>
            <a:r>
              <a:rPr b="1">
                <a:solidFill>
                  <a:srgbClr val="007020"/>
                </a:solidFill>
                <a:latin typeface="Courier"/>
              </a:rPr>
              <a:t>and</a:t>
            </a:r>
            <a:r>
              <a:rPr>
                <a:latin typeface="Courier"/>
              </a:rPr>
              <a:t> dfs_check(neighbor):</a:t>
            </a:r>
            <a:br/>
            <a:r>
              <a:rPr>
                <a:latin typeface="Courier"/>
              </a:rPr>
              <a:t>        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True</a:t>
            </a:r>
            <a:br/>
            <a:r>
              <a:rPr>
                <a:latin typeface="Courier"/>
              </a:rPr>
              <a:t>        color[node]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BLACK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False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any</a:t>
            </a:r>
            <a:r>
              <a:rPr>
                <a:latin typeface="Courier"/>
              </a:rPr>
              <a:t>(dfs_check(node)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node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range</a:t>
            </a:r>
            <a:r>
              <a:rPr>
                <a:latin typeface="Courier"/>
              </a:rPr>
              <a:t>(n)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color[node]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WHITE)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Topological sort: DFS with a twist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topological_sort(graph, n):</a:t>
            </a:r>
            <a:br/>
            <a:r>
              <a:rPr>
                <a:latin typeface="Courier"/>
              </a:rPr>
              <a:t>    visited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set</a:t>
            </a:r>
            <a:r>
              <a:rPr>
                <a:latin typeface="Courier"/>
              </a:rPr>
              <a:t>()</a:t>
            </a:r>
            <a:br/>
            <a:r>
              <a:rPr>
                <a:latin typeface="Courier"/>
              </a:rPr>
              <a:t>    order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[]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dfs_visit(node):</a:t>
            </a:r>
            <a:br/>
            <a:r>
              <a:rPr>
                <a:latin typeface="Courier"/>
              </a:rPr>
              <a:t>        visited.add(node)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neighbor, weight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graph.adj[node]:</a:t>
            </a:r>
            <a:br/>
            <a:r>
              <a:rPr>
                <a:latin typeface="Courier"/>
              </a:rPr>
              <a:t>    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neighbor </a:t>
            </a:r>
            <a:r>
              <a:rPr b="1">
                <a:solidFill>
                  <a:srgbClr val="007020"/>
                </a:solidFill>
                <a:latin typeface="Courier"/>
              </a:rPr>
              <a:t>not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visited:</a:t>
            </a:r>
            <a:br/>
            <a:r>
              <a:rPr>
                <a:latin typeface="Courier"/>
              </a:rPr>
              <a:t>                dfs_visit(neighbor)</a:t>
            </a:r>
            <a:br/>
            <a:r>
              <a:rPr>
                <a:latin typeface="Courier"/>
              </a:rPr>
              <a:t>        order.append(node)          </a:t>
            </a:r>
            <a:r>
              <a:rPr i="1">
                <a:solidFill>
                  <a:srgbClr val="60A0B0"/>
                </a:solidFill>
                <a:latin typeface="Courier"/>
              </a:rPr>
              <a:t># append AFTER visiting all neighbors — the twist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node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range</a:t>
            </a:r>
            <a:r>
              <a:rPr>
                <a:latin typeface="Courier"/>
              </a:rPr>
              <a:t>(n):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node </a:t>
            </a:r>
            <a:r>
              <a:rPr b="1">
                <a:solidFill>
                  <a:srgbClr val="007020"/>
                </a:solidFill>
                <a:latin typeface="Courier"/>
              </a:rPr>
              <a:t>not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visited:</a:t>
            </a:r>
            <a:br/>
            <a:r>
              <a:rPr>
                <a:latin typeface="Courier"/>
              </a:rPr>
              <a:t>            dfs_visit(node)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order[::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]   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reverse at the very end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Tracing topological sort completely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Graph (course prerequisites, directed): adj[0]=[1,2], adj[1]=[3], adj[2]=[3], adj[3]=[]
  (0="Intro Programming", 1="Data Structures", 2="Discrete Math", 3="Algorithms")
dfs_visit(0): visited={0}
  dfs_visit(1): visited={0,1}
    dfs_visit(3): visited={0,1,3}. No neighbors. order=[3]
  order=[3,1]
  dfs_visit(2): visited={0,1,3,2}
    (3 already visited, skip)
  order=[3,1,2]
order=[3,1,2,0]
Reversed: [0, 2, 1, 3]
Valid topological order: Intro Programming, Discrete Math, Data Structures, Algorithms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picture: the DAG and its topological order</a:t>
            </a:r>
          </a:p>
        </p:txBody>
      </p:sp>
      <p:pic>
        <p:nvPicPr>
          <p:cNvPr descr="figures/topological-sort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358900"/>
            <a:ext cx="8229600" cy="3060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topological sort requires a DAG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MTech addition — Kahn’s algorithm: topological sort via BFS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kahn_topological_sort(graph, n):</a:t>
            </a:r>
            <a:br/>
            <a:r>
              <a:rPr>
                <a:latin typeface="Courier"/>
              </a:rPr>
              <a:t>    in_degree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]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n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u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range</a:t>
            </a:r>
            <a:r>
              <a:rPr>
                <a:latin typeface="Courier"/>
              </a:rPr>
              <a:t>(n):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v, weight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graph.adj[u]:</a:t>
            </a:r>
            <a:br/>
            <a:r>
              <a:rPr>
                <a:latin typeface="Courier"/>
              </a:rPr>
              <a:t>            in_degree[v] </a:t>
            </a:r>
            <a:r>
              <a:rPr>
                <a:solidFill>
                  <a:srgbClr val="666666"/>
                </a:solidFill>
                <a:latin typeface="Courier"/>
              </a:rPr>
              <a:t>+=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br/>
            <a:r>
              <a:rPr>
                <a:latin typeface="Courier"/>
              </a:rPr>
              <a:t>    queue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deque([node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node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range</a:t>
            </a:r>
            <a:r>
              <a:rPr>
                <a:latin typeface="Courier"/>
              </a:rPr>
              <a:t>(n)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in_degree[node]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])</a:t>
            </a:r>
            <a:br/>
            <a:r>
              <a:rPr>
                <a:latin typeface="Courier"/>
              </a:rPr>
              <a:t>    order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[]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while</a:t>
            </a:r>
            <a:r>
              <a:rPr>
                <a:latin typeface="Courier"/>
              </a:rPr>
              <a:t> queue:</a:t>
            </a:r>
            <a:br/>
            <a:r>
              <a:rPr>
                <a:latin typeface="Courier"/>
              </a:rPr>
              <a:t>        node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queue.popleft()</a:t>
            </a:r>
            <a:br/>
            <a:r>
              <a:rPr>
                <a:latin typeface="Courier"/>
              </a:rPr>
              <a:t>        order.append(node)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neighbor, weight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graph.adj[node]:</a:t>
            </a:r>
            <a:br/>
            <a:r>
              <a:rPr>
                <a:latin typeface="Courier"/>
              </a:rPr>
              <a:t>            in_degree[neighbor] </a:t>
            </a:r>
            <a:r>
              <a:rPr>
                <a:solidFill>
                  <a:srgbClr val="666666"/>
                </a:solidFill>
                <a:latin typeface="Courier"/>
              </a:rPr>
              <a:t>-=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br/>
            <a:r>
              <a:rPr>
                <a:latin typeface="Courier"/>
              </a:rPr>
              <a:t>    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in_degree[neighbor]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        queue.append(neighbor)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order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len</a:t>
            </a:r>
            <a:r>
              <a:rPr>
                <a:latin typeface="Courier"/>
              </a:rPr>
              <a:t>(order)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n </a:t>
            </a:r>
            <a:r>
              <a:rPr b="1">
                <a:solidFill>
                  <a:srgbClr val="007020"/>
                </a:solidFill>
                <a:latin typeface="Courier"/>
              </a:rPr>
              <a:t>else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None</a:t>
            </a:r>
            <a:r>
              <a:rPr>
                <a:latin typeface="Courier"/>
              </a:rPr>
              <a:t>   </a:t>
            </a:r>
            <a:r>
              <a:rPr i="1">
                <a:solidFill>
                  <a:srgbClr val="60A0B0"/>
                </a:solidFill>
                <a:latin typeface="Courier"/>
              </a:rPr>
              <a:t># None signals a cycle was present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Exercise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Real-world use of these three applications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component count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answer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second worked cycle-detection trace, on an acyclic directed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Graph: adj[0]=[1,2], adj[1]=[3], adj[2]=[3], adj[3]=[]  (this lecture's course DAG)
dfs_check(0): color[0]=GRAY
  dfs_check(1): color[1]=GRAY
    dfs_check(3): color[3]=GRAY. No neighbors. color[3]=BLACK. return False
  color[1]=BLACK. return False
  dfs_check(2): color[2]=GRAY
    neighbor 3: color[3]=BLACK (already done, safe) → no cycle
  color[2]=BLACK. return False
color[0]=BLACK. return False
Result: no cycle — confirming this graph is a genuine DAG, safe for topological sort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Applications: Components, Cycles, and Topological Order</dc:title>
  <dc:creator>Dr. Innocent Nyalala</dc:creator>
  <cp:keywords/>
  <dcterms:created xsi:type="dcterms:W3CDTF">2026-08-04T14:51:04Z</dcterms:created>
  <dcterms:modified xsi:type="dcterms:W3CDTF">2026-08-04T14:51:04Z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subtitle">
    <vt:lpwstr>Programming and Data Structures — Week 11, Lecture 3</vt:lpwstr>
  </property>
  <property fmtid="{D5CDD505-2E9C-101B-9397-08002B2CF9AE}" pid="10" name="toc-title">
    <vt:lpwstr>Table of contents</vt:lpwstr>
  </property>
</Properties>
</file>