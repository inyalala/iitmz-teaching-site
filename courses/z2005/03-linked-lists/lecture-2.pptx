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Doubly Linked Lists: Adding a Way Back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4,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train-carriage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</a:t>
            </a:r>
            <a:r>
              <a:rPr>
                <a:latin typeface="Courier"/>
              </a:rPr>
              <a:t>prev</a:t>
            </a:r>
            <a:r>
              <a:rPr/>
              <a:t>: the node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Node: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same as Lecture 1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NEW: reference to the previous node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DoublyLinkedList</a:t>
            </a:r>
            <a:r>
              <a:rPr/>
              <a:t> wrapper: two references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DoublyLinkedList: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first node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NEW: last node, tracked explicitly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__len__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push_back</a:t>
            </a:r>
            <a:r>
              <a:rPr/>
              <a:t>: now genuinely O(1)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push_back(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new_node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            </a:t>
            </a:r>
            <a:r>
              <a:rPr i="1">
                <a:solidFill>
                  <a:srgbClr val="60A0B0"/>
                </a:solidFill>
                <a:latin typeface="Courier"/>
              </a:rPr>
              <a:t># empty list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new_node.prev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    </a:t>
            </a:r>
            <a:r>
              <a:rPr i="1">
                <a:solidFill>
                  <a:srgbClr val="60A0B0"/>
                </a:solidFill>
                <a:latin typeface="Courier"/>
              </a:rPr>
              <a:t># 1. new node's prev points at old tail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     </a:t>
            </a:r>
            <a:r>
              <a:rPr i="1">
                <a:solidFill>
                  <a:srgbClr val="60A0B0"/>
                </a:solidFill>
                <a:latin typeface="Courier"/>
              </a:rPr>
              <a:t># 2. old tail's next points at new node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           </a:t>
            </a:r>
            <a:r>
              <a:rPr i="1">
                <a:solidFill>
                  <a:srgbClr val="60A0B0"/>
                </a:solidFill>
                <a:latin typeface="Courier"/>
              </a:rPr>
              <a:t># 3. tail reference itself moves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</a:t>
            </a:r>
            <a:r>
              <a:rPr>
                <a:latin typeface="Courier"/>
              </a:rPr>
              <a:t>push_back</a:t>
            </a:r>
            <a:r>
              <a:rPr/>
              <a:t>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head → [10] ⇄ [20] ⇄ [30] ← tail
push_back(40):
  new_node = [40]
  Step 1: new_node.prev = tail        → [40].prev points at [30]
  Step 2: tail.next = new_node        → [30].next points at [40]
  Step 3: tail = new_node             → tail now IS [40]
After: head → [10] ⇄ [20] ⇄ [30] ⇄ [40] ← tail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real win: O(1) deletion given a node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remove_node(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node):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node.prev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node.prev.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node was the 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.prev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node.prev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node.prev          </a:t>
            </a:r>
            <a:r>
              <a:rPr i="1">
                <a:solidFill>
                  <a:srgbClr val="60A0B0"/>
                </a:solidFill>
                <a:latin typeface="Courier"/>
              </a:rPr>
              <a:t># node was the tail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</a:t>
            </a:r>
            <a:r>
              <a:rPr>
                <a:latin typeface="Courier"/>
              </a:rPr>
              <a:t>remove_node</a:t>
            </a:r>
            <a:r>
              <a:rPr/>
              <a:t>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head → [10] ⇄ [20] ⇄ [30] ← tail    (removing the node holding 20)
node = the [20] node (already have this reference — no search)
node.prev is [10] (not None) → [10].next = node.next = [30]
node.next is [30] (not None) → [30].prev = node.prev = [10]
After: head → [10] ⇄ [30] ← tail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matters: it is not just “faster deletion”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Traversal in both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to_list_forward(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result,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result.append(current.value)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to_list_backward(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result,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.tail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result.append(current.value)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current.prev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two arrows between every pair of nodes</a:t>
            </a:r>
          </a:p>
        </p:txBody>
      </p:sp>
      <p:pic>
        <p:nvPicPr>
          <p:cNvPr descr="figures/doubly-linked-lis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browser history, forward and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history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DoublyLinkedList()</a:t>
            </a:r>
            <a:br/>
            <a:r>
              <a:rPr>
                <a:latin typeface="Courier"/>
              </a:rPr>
              <a:t>history.push_back(</a:t>
            </a:r>
            <a:r>
              <a:rPr>
                <a:solidFill>
                  <a:srgbClr val="4070A0"/>
                </a:solidFill>
                <a:latin typeface="Courier"/>
              </a:rPr>
              <a:t>"home.html"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history.push_back(</a:t>
            </a:r>
            <a:r>
              <a:rPr>
                <a:solidFill>
                  <a:srgbClr val="4070A0"/>
                </a:solidFill>
                <a:latin typeface="Courier"/>
              </a:rPr>
              <a:t>"courses.html"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history.push_back(</a:t>
            </a:r>
            <a:r>
              <a:rPr>
                <a:solidFill>
                  <a:srgbClr val="4070A0"/>
                </a:solidFill>
                <a:latin typeface="Courier"/>
              </a:rPr>
              <a:t>"z2005/index.html"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history.tail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currently viewing z2005/index.html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go_back(current):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current.prev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current.prev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current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go_forward(current):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current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this is how </a:t>
            </a:r>
            <a:r>
              <a:rPr>
                <a:latin typeface="Courier"/>
              </a:rPr>
              <a:t>collections.deque</a:t>
            </a:r>
            <a:r>
              <a:rPr/>
              <a:t> really works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summary, three structures now compared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memory cost of the second reference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cost, given what you’re handed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Doubly Linked Lists: Adding a Way Back</dc:title>
  <dc:creator>Dr. Innocent Nyalala</dc:creator>
  <cp:keywords/>
  <dcterms:created xsi:type="dcterms:W3CDTF">2026-08-04T06:33:39Z</dcterms:created>
  <dcterms:modified xsi:type="dcterms:W3CDTF">2026-08-04T06:33:39Z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4, Lecture 2</vt:lpwstr>
  </property>
  <property fmtid="{D5CDD505-2E9C-101B-9397-08002B2CF9AE}" pid="10" name="toc-title">
    <vt:lpwstr>Table of contents</vt:lpwstr>
  </property>
</Properties>
</file>