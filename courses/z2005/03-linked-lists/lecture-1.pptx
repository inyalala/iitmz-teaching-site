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Singly Linked Lists: Breaking Free of Contiguous Memory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4, Lecture 1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treasure-hunt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 node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Node: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value):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.value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value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a reference to the NEXT node, or None if last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Building the chain by hand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first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Node(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first.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Node(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first.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Node(</a:t>
            </a:r>
            <a:r>
              <a:rPr>
                <a:solidFill>
                  <a:srgbClr val="40A070"/>
                </a:solidFill>
                <a:latin typeface="Courier"/>
              </a:rPr>
              <a:t>30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(first.value)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10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(first.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.value)         </a:t>
            </a:r>
            <a:r>
              <a:rPr i="1">
                <a:solidFill>
                  <a:srgbClr val="60A0B0"/>
                </a:solidFill>
                <a:latin typeface="Courier"/>
              </a:rPr>
              <a:t># 20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(first.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.value)    </a:t>
            </a:r>
            <a:r>
              <a:rPr i="1">
                <a:solidFill>
                  <a:srgbClr val="60A0B0"/>
                </a:solidFill>
                <a:latin typeface="Courier"/>
              </a:rPr>
              <a:t># 30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(first.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)     </a:t>
            </a:r>
            <a:r>
              <a:rPr i="1">
                <a:solidFill>
                  <a:srgbClr val="60A0B0"/>
                </a:solidFill>
                <a:latin typeface="Courier"/>
              </a:rPr>
              <a:t># None — end of the chain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LinkedList</a:t>
            </a:r>
            <a:r>
              <a:rPr/>
              <a:t> wrapper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LinkedList: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.head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reference to the first node, or None if empty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._size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__len__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._size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is_empty(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.head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Traversal: the only way to reach an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to_list(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result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>
                <a:latin typeface="Courier"/>
              </a:rPr>
              <a:t>    current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.head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current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result.append(current.value)</a:t>
            </a:r>
            <a:br/>
            <a:r>
              <a:rPr>
                <a:latin typeface="Courier"/>
              </a:rPr>
              <a:t>        current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current.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result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Insertion at the head: the cheap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push_front(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value):</a:t>
            </a:r>
            <a:br/>
            <a:r>
              <a:rPr>
                <a:latin typeface="Courier"/>
              </a:rPr>
              <a:t>    new_node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Node(value)</a:t>
            </a:r>
            <a:br/>
            <a:r>
              <a:rPr>
                <a:latin typeface="Courier"/>
              </a:rPr>
              <a:t>    new_node.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.head    </a:t>
            </a:r>
            <a:r>
              <a:rPr i="1">
                <a:solidFill>
                  <a:srgbClr val="60A0B0"/>
                </a:solidFill>
                <a:latin typeface="Courier"/>
              </a:rPr>
              <a:t># new node points to the OLD head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.head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new_node          </a:t>
            </a:r>
            <a:r>
              <a:rPr i="1">
                <a:solidFill>
                  <a:srgbClr val="60A0B0"/>
                </a:solidFill>
                <a:latin typeface="Courier"/>
              </a:rPr>
              <a:t># head now points to the new node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._size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head-insertion,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Before: head → [10] → [20] → [30] → None
push_front(5):
  Step 1: new_node.next = head   → new_node(5) → [10] → [20] → [30] → None
  Step 2: head = new_node        → head → [5] → [10] → [20] → [30] → None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Insertion at the tail: why it needs more 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push_back(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value):</a:t>
            </a:r>
            <a:br/>
            <a:r>
              <a:rPr>
                <a:latin typeface="Courier"/>
              </a:rPr>
              <a:t>    new_node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Node(value)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.head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.head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new_node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._size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br/>
            <a:r>
              <a:rPr>
                <a:latin typeface="Courier"/>
              </a:rPr>
              <a:t>    current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.head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current.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      </a:t>
            </a:r>
            <a:r>
              <a:rPr i="1">
                <a:solidFill>
                  <a:srgbClr val="60A0B0"/>
                </a:solidFill>
                <a:latin typeface="Courier"/>
              </a:rPr>
              <a:t># walk to the LAST node</a:t>
            </a:r>
            <a:br/>
            <a:r>
              <a:rPr>
                <a:latin typeface="Courier"/>
              </a:rPr>
              <a:t>        current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current.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br/>
            <a:r>
              <a:rPr>
                <a:latin typeface="Courier"/>
              </a:rPr>
              <a:t>    current.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new_node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._size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tail-insertion,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Before: head → [10] → [20] → [30] → None
push_back(40):
  current = head (node 10)
  current.next is [20], not None → current = [20]
  current.next is [30], not None → current = [30]
  current.next is None → stop here, current is the last node
  current.next = new_node(40)
After: head → [10] → [20] → [30] → [40] → None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Deletion: removing a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remove(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value):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.head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.head.value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value: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.head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.head.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skip over the old head entirely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._size </a:t>
            </a:r>
            <a:r>
              <a:rPr>
                <a:solidFill>
                  <a:srgbClr val="666666"/>
                </a:solidFill>
                <a:latin typeface="Courier"/>
              </a:rPr>
              <a:t>-=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br/>
            <a:r>
              <a:rPr>
                <a:latin typeface="Courier"/>
              </a:rPr>
              <a:t>    current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.head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current.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current.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.value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value:</a:t>
            </a:r>
            <a:br/>
            <a:r>
              <a:rPr>
                <a:latin typeface="Courier"/>
              </a:rPr>
              <a:t>            current.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current.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r>
              <a:rPr>
                <a:latin typeface="Courier"/>
              </a:rPr>
              <a:t>   </a:t>
            </a:r>
            <a:r>
              <a:rPr i="1">
                <a:solidFill>
                  <a:srgbClr val="60A0B0"/>
                </a:solidFill>
                <a:latin typeface="Courier"/>
              </a:rPr>
              <a:t># skip over the target node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._size </a:t>
            </a:r>
            <a:r>
              <a:rPr>
                <a:solidFill>
                  <a:srgbClr val="666666"/>
                </a:solidFill>
                <a:latin typeface="Courier"/>
              </a:rPr>
              <a:t>-=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br/>
            <a:r>
              <a:rPr>
                <a:latin typeface="Courier"/>
              </a:rPr>
              <a:t>        current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current.</a:t>
            </a:r>
            <a:r>
              <a:rPr>
                <a:solidFill>
                  <a:srgbClr val="008000"/>
                </a:solidFill>
                <a:latin typeface="Courier"/>
              </a:rPr>
              <a:t>next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deletion,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Before: head → [10] → [20] → [30] → None
remove(20):
  head.value (10) != 20 → current = head (node 10)
  current.next.value (20) == 20 → MATCH
  current.next = current.next.next   (skip node 20, point straight to node 30)
After: head → [10] → [30] → None       (node 20 is now unreachable)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nodes scattered, links stitching them together</a:t>
            </a:r>
          </a:p>
        </p:txBody>
      </p:sp>
      <p:pic>
        <p:nvPicPr>
          <p:cNvPr descr="figures/linked-list-nodes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8800" y="1193800"/>
            <a:ext cx="8026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summary, contrasted with Week 2’s array table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Python’s own </a:t>
            </a:r>
            <a:r>
              <a:rPr>
                <a:latin typeface="Courier"/>
              </a:rPr>
              <a:t>list</a:t>
            </a:r>
            <a:r>
              <a:rPr/>
              <a:t> is not a linked list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predict the cost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Singly Linked Lists: Breaking Free of Contiguous Memory</dc:title>
  <dc:creator>Dr. Innocent Nyalala</dc:creator>
  <cp:keywords/>
  <dcterms:created xsi:type="dcterms:W3CDTF">2026-08-04T06:33:06Z</dcterms:created>
  <dcterms:modified xsi:type="dcterms:W3CDTF">2026-08-04T06:33:06Z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4, Lecture 1</vt:lpwstr>
  </property>
  <property fmtid="{D5CDD505-2E9C-101B-9397-08002B2CF9AE}" pid="10" name="toc-title">
    <vt:lpwstr>Table of contents</vt:lpwstr>
  </property>
</Properties>
</file>