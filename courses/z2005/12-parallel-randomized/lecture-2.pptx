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Randomized Algorithms: Las Vegas and Monte Carlo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14,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two-kinds-of-gambling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 Vegas algorithms: randomized quicksort, revisited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“expected” time is a genuinely different guarantee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Monte Carlo algorithms: randomized primality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miller_rabin_witness(n, a):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returns True if 'a' proves n is COMPOSITE (definitely not prime)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returns False if 'a' provides no such proof (n MIGHT be prime)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d </a:t>
            </a:r>
            <a:r>
              <a:rPr>
                <a:solidFill>
                  <a:srgbClr val="666666"/>
                </a:solidFill>
                <a:latin typeface="Courier"/>
              </a:rPr>
              <a:t>//=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pow</a:t>
            </a:r>
            <a:r>
              <a:rPr>
                <a:latin typeface="Courier"/>
              </a:rPr>
              <a:t>(a, d, n)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pow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n)</a:t>
            </a:r>
            <a:br/>
            <a:r>
              <a:rPr>
                <a:latin typeface="Courier"/>
              </a:rPr>
              <a:t>        d </a:t>
            </a:r>
            <a:r>
              <a:rPr>
                <a:solidFill>
                  <a:srgbClr val="666666"/>
                </a:solidFill>
                <a:latin typeface="Courier"/>
              </a:rPr>
              <a:t>*=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is_probably_prime(n, k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(k):</a:t>
            </a:r>
            <a:br/>
            <a:r>
              <a:rPr>
                <a:latin typeface="Courier"/>
              </a:rPr>
              <a:t>    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random.randint(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miller_rabin_witness(n, a):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definitely composite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PROBABLY prime — not guaranteed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Miller-Rabin on a small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Testing n=221 (= 13 x 17, genuinely composite) with witness a=174:
  d = 220, reduce by 2s: 220 -&gt; 110 -&gt; 55 (odd, stop). d=55
  x = 174^55 mod 221 = 47 (computed via modular exponentiation)
  47 != 1 and 47 != 220 (n-1) -&gt; continue the squaring loop
  square: 47^2 mod 221 = 220 = n-1 -&gt; return False (a=174 does NOT prove composite)
Testing the SAME n=221 with witness a=137:
  d=55. x = 137^55 mod 221 = 188
  188 != 1, 188 != 220 -&gt; square: 188^2 mod 221 = 205, not 220 either
  d reaches n-1 without ever hitting n-1 -&gt; return True (137 PROVES 221 is composite)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is_probably_prime against known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7919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(n, is_probably_prime(n))    </a:t>
            </a:r>
            <a:r>
              <a:rPr i="1">
                <a:solidFill>
                  <a:srgbClr val="60A0B0"/>
                </a:solidFill>
                <a:latin typeface="Courier"/>
              </a:rPr>
              <a:t># all True — genuine primes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221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8051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(n, is_probably_prime(n))    </a:t>
            </a:r>
            <a:r>
              <a:rPr i="1">
                <a:solidFill>
                  <a:srgbClr val="60A0B0"/>
                </a:solidFill>
                <a:latin typeface="Courier"/>
              </a:rPr>
              <a:t># all False — genuine composites, caught with certainty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critical distinction, stated plainly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conflating the two is a real, serious mistake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amplification: reducing error probability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Miller-Rabin is fast: connecting back to Week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Miller-Rabin trace: n = 561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n, d, 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561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pow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d, n)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(x)          </a:t>
            </a:r>
            <a:r>
              <a:rPr i="1">
                <a:solidFill>
                  <a:srgbClr val="60A0B0"/>
                </a:solidFill>
                <a:latin typeface="Courier"/>
              </a:rPr>
              <a:t># 263 — not 1, not 560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(r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pow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n)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(x)      </a:t>
            </a:r>
            <a:r>
              <a:rPr i="1">
                <a:solidFill>
                  <a:srgbClr val="60A0B0"/>
                </a:solidFill>
                <a:latin typeface="Courier"/>
              </a:rPr>
              <a:t># 166, 67, 1 -- hits 1 without passing through 560 first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Miller-Rabin succeeds where Fermat’s test fails on Carmichael numbers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randomized algorithms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categorize the algorithm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Connecting back: randomization across the whole course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Randomized Algorithms: Las Vegas and Monte Carlo</dc:title>
  <dc:creator>Dr. Innocent Nyalala</dc:creator>
  <cp:keywords/>
  <dcterms:created xsi:type="dcterms:W3CDTF">2026-08-04T15:24:12Z</dcterms:created>
  <dcterms:modified xsi:type="dcterms:W3CDTF">2026-08-04T15:24:12Z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14, Lecture 2</vt:lpwstr>
  </property>
  <property fmtid="{D5CDD505-2E9C-101B-9397-08002B2CF9AE}" pid="10" name="toc-title">
    <vt:lpwstr>Table of contents</vt:lpwstr>
  </property>
</Properties>
</file>