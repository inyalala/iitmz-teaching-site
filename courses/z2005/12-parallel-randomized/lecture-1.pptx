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Parallel Thinking: When More Workers Help, and When They Don’t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14,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kitchen-with-many-cooks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Naturally parallel problems, from this course’s own algorithms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Fundamentally sequential problems: why some cannot be split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Amdahl’s Law, derived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Applying Amdahl’s Law to a concrete workload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program's work is 90% parallelizable (p=0.9), 10% fundamentally sequential.
Using 8 workers (N=8):
speedup = 1 / ((1-0.9) + 0.9/8) = 1 / (0.1 + 0.1125) = 1 / 0.2125 ≈ 4.7x
Using UNLIMITED workers (N → infinity):
speedup = 1 / (1-p) = 1 / 0.1 = 10x  -- a hard ceiling, no matter how many workers exist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Amdahl’s Law’s diminishing returns</a:t>
            </a:r>
          </a:p>
        </p:txBody>
      </p:sp>
      <p:pic>
        <p:nvPicPr>
          <p:cNvPr descr="figures/amdahl-curv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3600" y="1193800"/>
            <a:ext cx="741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the 90%-parallel numbers directly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amdahl_speedup(p, n):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n)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(amdahl_speedup(</a:t>
            </a:r>
            <a:r>
              <a:rPr>
                <a:solidFill>
                  <a:srgbClr val="40A070"/>
                </a:solidFill>
                <a:latin typeface="Courier"/>
              </a:rPr>
              <a:t>0.9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))          </a:t>
            </a:r>
            <a:r>
              <a:rPr i="1">
                <a:solidFill>
                  <a:srgbClr val="60A0B0"/>
                </a:solidFill>
                <a:latin typeface="Courier"/>
              </a:rPr>
              <a:t># 4.705882...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(amdahl_speedup(</a:t>
            </a:r>
            <a:r>
              <a:rPr>
                <a:solidFill>
                  <a:srgbClr val="40A070"/>
                </a:solidFill>
                <a:latin typeface="Courier"/>
              </a:rPr>
              <a:t>0.9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'inf'</a:t>
            </a:r>
            <a:r>
              <a:rPr>
                <a:latin typeface="Courier"/>
              </a:rPr>
              <a:t>)))  </a:t>
            </a:r>
            <a:r>
              <a:rPr i="1">
                <a:solidFill>
                  <a:srgbClr val="60A0B0"/>
                </a:solidFill>
                <a:latin typeface="Courier"/>
              </a:rPr>
              <a:t># exactly 10.0, the hard ceiling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real parallel map, implemented and 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multiprocessing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Pool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expensive_computation(x):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(i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(x))</a:t>
            </a:r>
            <a:br/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1_000_000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br/>
            <a:br/>
            <a:r>
              <a:rPr>
                <a:latin typeface="Courier"/>
              </a:rPr>
              <a:t>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>
                <a:latin typeface="Courier"/>
              </a:rPr>
              <a:t>results_serial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[expensive_computation(x)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data]</a:t>
            </a:r>
            <a:br/>
            <a:r>
              <a:rPr>
                <a:latin typeface="Courier"/>
              </a:rPr>
              <a:t>serial_time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</a:t>
            </a:r>
            <a:br/>
            <a:br/>
            <a:r>
              <a:rPr>
                <a:latin typeface="Courier"/>
              </a:rPr>
              <a:t>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Pool(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pool:</a:t>
            </a:r>
            <a:br/>
            <a:r>
              <a:rPr>
                <a:latin typeface="Courier"/>
              </a:rPr>
              <a:t>    results_parallel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pool.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latin typeface="Courier"/>
              </a:rPr>
              <a:t>(expensive_computation, data)</a:t>
            </a:r>
            <a:br/>
            <a:r>
              <a:rPr>
                <a:latin typeface="Courier"/>
              </a:rPr>
              <a:t>parallel_time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f"serial: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serial_time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s   parallel (4 workers):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parallel_time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parallel merge sort, and where its speedup comes from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measured speedup is always less than the naive expectation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parallel computation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apply Amdahl’s Law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quiz check — the hard ceiling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Thinking: When More Workers Help, and When They Don’t</dc:title>
  <dc:creator>Dr. Innocent Nyalala</dc:creator>
  <cp:keywords/>
  <dcterms:created xsi:type="dcterms:W3CDTF">2026-08-04T15:35:27Z</dcterms:created>
  <dcterms:modified xsi:type="dcterms:W3CDTF">2026-08-04T15:35:27Z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14, Lecture 1</vt:lpwstr>
  </property>
  <property fmtid="{D5CDD505-2E9C-101B-9397-08002B2CF9AE}" pid="10" name="toc-title">
    <vt:lpwstr>Table of contents</vt:lpwstr>
  </property>
</Properties>
</file>