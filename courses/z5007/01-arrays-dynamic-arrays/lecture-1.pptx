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notesMaster" Target="notesMasters/notesMaster1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Draw this on the board as an actual strip of boxes with addresses above each one before showing any code. Students who have only ever seen </a:t>
            </a:r>
            <a:r>
              <a:rPr>
                <a:latin typeface="Courier"/>
              </a:rPr>
              <a:t>arr[i]</a:t>
            </a:r>
            <a:r>
              <a:rPr/>
              <a:t> as syntax benefit enormously from seeing the memory layout once, concretely.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Static Arrays: Contiguous Memory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2,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apartment building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one object to many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Contiguous memory: the physical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Memory address:   1000   1004   1008   1012   1016
Value:            [ 67 ] [ 88 ] [ 45 ] [ 92 ] [ 71 ]
Index:              0      1      2      3      4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4 bytes, specifically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address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address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base_address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element_size</m:t>
                      </m:r>
                    </m:oMath>
                  </m:oMathPara>
                </a14:m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base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1000</a:t>
                </a:r>
                <a:br/>
                <a:r>
                  <a:rPr>
                    <a:latin typeface="Courier"/>
                  </a:rPr>
                  <a:t>element_size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</a:t>
                </a:r>
                <a:r>
                  <a:rPr>
                    <a:latin typeface="Courier"/>
                  </a:rPr>
                  <a:t>  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bytes, for a 4-byte int</a:t>
                </a:r>
                <a:br/>
                <a:r>
                  <a:rPr>
                    <a:latin typeface="Courier"/>
                  </a:rPr>
                  <a:t>i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</a:t>
                </a:r>
                <a:br/>
                <a:r>
                  <a:rPr>
                    <a:latin typeface="Courier"/>
                  </a:rPr>
                  <a:t>address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base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i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element_size</a:t>
                </a:r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(address)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1012 — matches the picture above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example 1 — small numbers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example 2 — a larger element size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breaks for a list of </a:t>
            </a:r>
            <a:r>
              <a:rPr>
                <a:latin typeface="Courier"/>
              </a:rPr>
              <a:t>Point</a:t>
            </a:r>
            <a:r>
              <a:rPr/>
              <a:t>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points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[Point(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), Point(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), Point(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)]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the two-hop lookup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Reference array (base 4000, 8-byte pointers):
  address 4000: pointer → 6032
  address 4008: pointer → 6104
  address 4016: pointer → 6176
points[1]  →  address(1) = 4000 + 1*8 = 4008  →  read pointer 6104
           →  follow to address 6104: the actual Point(1, 1) object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wall: arrays cannot grow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scores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    </a:t>
            </a:r>
            <a:r>
              <a:rPr i="1">
                <a:solidFill>
                  <a:srgbClr val="60A0B0"/>
                </a:solidFill>
                <a:latin typeface="Courier"/>
              </a:rPr>
              <a:t># a fixed block of exactly 5 slots, addresses 1000-1016</a:t>
            </a:r>
            <a:br/>
            <a:r>
              <a:rPr>
                <a:latin typeface="Courier"/>
              </a:rPr>
              <a:t>scores[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99</a:t>
            </a:r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IndexError — there is no address 1020 reserved for us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 to the apartment analogy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Two-dimensional arrays: still one flat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    [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    [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latin typeface="Courier"/>
              </a:rPr>
              <a:t>]]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row-major address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address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base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num_cols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element_size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example 3 — indexing a 2D grid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worked trace — building a dynamic array’s cousin: a fixed lookup table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exercise (5 minutes)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compute it (1D)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 (1D)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compute it (2D)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 (2D)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Arrays: Contiguous Memory</dc:title>
  <dc:creator>Dr. Innocent Nyalala</dc:creator>
  <cp:keywords/>
  <dcterms:created xsi:type="dcterms:W3CDTF">2026-08-03T20:15:37Z</dcterms:created>
  <dcterms:modified xsi:type="dcterms:W3CDTF">2026-08-03T20:15:37Z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2, Lecture 1</vt:lpwstr>
  </property>
  <property fmtid="{D5CDD505-2E9C-101B-9397-08002B2CF9AE}" pid="10" name="toc-title">
    <vt:lpwstr>Table of contents</vt:lpwstr>
  </property>
</Properties>
</file>