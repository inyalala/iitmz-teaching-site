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Array Operations: Where the Real Cost Hides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Programming and Data Structures — Week 2, Lecture 4</a:t>
            </a:r>
            <a:br/>
            <a:br/>
            <a:r>
              <a:rPr/>
              <a:t>Dr. Innocent Nyalala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cinema-queue analogy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Insert/delete at the end: the easy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scores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67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scores.append(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)     </a:t>
            </a:r>
            <a:r>
              <a:rPr i="1">
                <a:solidFill>
                  <a:srgbClr val="60A0B0"/>
                </a:solidFill>
                <a:latin typeface="Courier"/>
              </a:rPr>
              <a:t># [67, 88, 45, 92, 71, 60]</a:t>
            </a:r>
            <a:br/>
            <a:r>
              <a:rPr>
                <a:latin typeface="Courier"/>
              </a:rPr>
              <a:t>scores.pop()           </a:t>
            </a:r>
            <a:r>
              <a:rPr i="1">
                <a:solidFill>
                  <a:srgbClr val="60A0B0"/>
                </a:solidFill>
                <a:latin typeface="Courier"/>
              </a:rPr>
              <a:t># removes 60, back to [67, 88, 45, 92, 71]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Insert in the middle: setting up the trace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scores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67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scores.insert(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99</a:t>
            </a:r>
            <a:r>
              <a:rPr>
                <a:latin typeface="Courier"/>
              </a:rPr>
              <a:t>)     </a:t>
            </a:r>
            <a:r>
              <a:rPr i="1">
                <a:solidFill>
                  <a:srgbClr val="60A0B0"/>
                </a:solidFill>
                <a:latin typeface="Courier"/>
              </a:rPr>
              <a:t># insert 99 at index 2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Insert in the middle: the trace, element by element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Insert in the middle: counting the cost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Delete in the middle: the mirror image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scores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67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71</a:t>
            </a:r>
            <a:r>
              <a:rPr>
                <a:latin typeface="Courier"/>
              </a:rPr>
              <a:t>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del</a:t>
            </a:r>
            <a:r>
              <a:rPr>
                <a:latin typeface="Courier"/>
              </a:rPr>
              <a:t> scores[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     </a:t>
            </a:r>
            <a:r>
              <a:rPr i="1">
                <a:solidFill>
                  <a:srgbClr val="60A0B0"/>
                </a:solidFill>
                <a:latin typeface="Courier"/>
              </a:rPr>
              <a:t># remove index 2 (99)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Insert/delete at the start: the worst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scores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67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scores.insert(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99</a:t>
            </a:r>
            <a:r>
              <a:rPr>
                <a:latin typeface="Courier"/>
              </a:rPr>
              <a:t>)     </a:t>
            </a:r>
            <a:r>
              <a:rPr i="1">
                <a:solidFill>
                  <a:srgbClr val="60A0B0"/>
                </a:solidFill>
                <a:latin typeface="Courier"/>
              </a:rPr>
              <a:t># every single element must shift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 table: cost by position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Reconnecting to search from Week 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Measuring it for real in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time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time_it(fn):</a:t>
            </a:r>
            <a:br/>
            <a:r>
              <a:rPr>
                <a:latin typeface="Courier"/>
              </a:rPr>
              <a:t>    start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time.perf_counter()</a:t>
            </a:r>
            <a:br/>
            <a:r>
              <a:rPr>
                <a:latin typeface="Courier"/>
              </a:rPr>
              <a:t>    fn()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time.perf_counter()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start</a:t>
            </a:r>
            <a:br/>
            <a:br/>
            <a:r>
              <a:rPr>
                <a:latin typeface="Courier"/>
              </a:rPr>
              <a:t>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100_000</a:t>
            </a:r>
            <a:br/>
            <a:r>
              <a:rPr>
                <a:latin typeface="Courier"/>
              </a:rPr>
              <a:t>data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(n))</a:t>
            </a:r>
            <a:br/>
            <a:br/>
            <a:r>
              <a:rPr>
                <a:latin typeface="Courier"/>
              </a:rPr>
              <a:t>t_end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time_it(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: data.append(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or</a:t>
            </a:r>
            <a:r>
              <a:rPr>
                <a:latin typeface="Courier"/>
              </a:rPr>
              <a:t> data.pop())</a:t>
            </a:r>
            <a:br/>
            <a:r>
              <a:rPr>
                <a:latin typeface="Courier"/>
              </a:rPr>
              <a:t>t_start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time_it(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: data.insert(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and</a:t>
            </a:r>
            <a:r>
              <a:rPr>
                <a:latin typeface="Courier"/>
              </a:rPr>
              <a:t> data.pop(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f"end: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t_end</a:t>
            </a:r>
            <a:r>
              <a:rPr>
                <a:solidFill>
                  <a:srgbClr val="4070A0"/>
                </a:solidFill>
                <a:latin typeface="Courier"/>
              </a:rPr>
              <a:t>:.6f}</a:t>
            </a:r>
            <a:r>
              <a:rPr>
                <a:solidFill>
                  <a:srgbClr val="BB6688"/>
                </a:solidFill>
                <a:latin typeface="Courier"/>
              </a:rPr>
              <a:t>s   start: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t_start</a:t>
            </a:r>
            <a:r>
              <a:rPr>
                <a:solidFill>
                  <a:srgbClr val="4070A0"/>
                </a:solidFill>
                <a:latin typeface="Courier"/>
              </a:rPr>
              <a:t>:.6f}</a:t>
            </a:r>
            <a:r>
              <a:rPr>
                <a:solidFill>
                  <a:srgbClr val="BB6688"/>
                </a:solidFill>
                <a:latin typeface="Courier"/>
              </a:rPr>
              <a:t>s"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MTech addition — why </a:t>
            </a:r>
            <a:r>
              <a:rPr>
                <a:latin typeface="Courier"/>
              </a:rPr>
              <a:t>collections.deque</a:t>
            </a:r>
            <a:r>
              <a:rPr/>
              <a:t>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collections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deque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deque([</a:t>
            </a:r>
            <a:r>
              <a:rPr>
                <a:solidFill>
                  <a:srgbClr val="40A070"/>
                </a:solidFill>
                <a:latin typeface="Courier"/>
              </a:rPr>
              <a:t>67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71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d.appendleft(</a:t>
            </a:r>
            <a:r>
              <a:rPr>
                <a:solidFill>
                  <a:srgbClr val="40A070"/>
                </a:solidFill>
                <a:latin typeface="Courier"/>
              </a:rPr>
              <a:t>99</a:t>
            </a:r>
            <a:r>
              <a:rPr>
                <a:latin typeface="Courier"/>
              </a:rPr>
              <a:t>)   </a:t>
            </a:r>
            <a:r>
              <a:rPr i="1">
                <a:solidFill>
                  <a:srgbClr val="60A0B0"/>
                </a:solidFill>
                <a:latin typeface="Courier"/>
              </a:rPr>
              <a:t># O(1) — NOT O(n) like list.insert(0, ...)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MTech addition — the trade-off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full worked trace tying it all together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predict the cost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answer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Array Operations: Where the Real Cost Hides</dc:title>
  <dc:creator>Dr. Innocent Nyalala</dc:creator>
  <cp:keywords/>
  <dcterms:created xsi:type="dcterms:W3CDTF">2026-08-03T19:48:12Z</dcterms:created>
  <dcterms:modified xsi:type="dcterms:W3CDTF">2026-08-03T19:48:12Z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Programming and Data Structures — Week 2, Lecture 4</vt:lpwstr>
  </property>
  <property fmtid="{D5CDD505-2E9C-101B-9397-08002B2CF9AE}" pid="10" name="toc-title">
    <vt:lpwstr>Table of contents</vt:lpwstr>
  </property>
</Properties>
</file>