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Insertion Sort: The One Simple Sort Actually Used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5, Lecture 2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card-sorting-in-hand analogy, precisely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Insertion sort, in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insertion_sort(arr):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(arr)):</a:t>
            </a:r>
            <a:br/>
            <a:r>
              <a:rPr>
                <a:latin typeface="Courier"/>
              </a:rPr>
              <a:t>        key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arr[i]           </a:t>
            </a:r>
            <a:r>
              <a:rPr i="1">
                <a:solidFill>
                  <a:srgbClr val="60A0B0"/>
                </a:solidFill>
                <a:latin typeface="Courier"/>
              </a:rPr>
              <a:t># the "new card" being inserted</a:t>
            </a:r>
            <a:br/>
            <a:r>
              <a:rPr>
                <a:latin typeface="Courier"/>
              </a:rPr>
              <a:t>        j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i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j </a:t>
            </a:r>
            <a:r>
              <a:rPr>
                <a:solidFill>
                  <a:srgbClr val="666666"/>
                </a:solidFill>
                <a:latin typeface="Courier"/>
              </a:rPr>
              <a:t>&gt;=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and</a:t>
            </a:r>
            <a:r>
              <a:rPr>
                <a:latin typeface="Courier"/>
              </a:rPr>
              <a:t> arr[j]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key:</a:t>
            </a:r>
            <a:br/>
            <a:r>
              <a:rPr>
                <a:latin typeface="Courier"/>
              </a:rPr>
              <a:t>            arr[j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arr[j]    </a:t>
            </a:r>
            <a:r>
              <a:rPr i="1">
                <a:solidFill>
                  <a:srgbClr val="60A0B0"/>
                </a:solidFill>
                <a:latin typeface="Courier"/>
              </a:rPr>
              <a:t># shift the larger element right</a:t>
            </a:r>
            <a:br/>
            <a:r>
              <a:rPr>
                <a:latin typeface="Courier"/>
              </a:rPr>
              <a:t>            j </a:t>
            </a:r>
            <a:r>
              <a:rPr>
                <a:solidFill>
                  <a:srgbClr val="666666"/>
                </a:solidFill>
                <a:latin typeface="Courier"/>
              </a:rPr>
              <a:t>-=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        arr[j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key            </a:t>
            </a:r>
            <a:r>
              <a:rPr i="1">
                <a:solidFill>
                  <a:srgbClr val="60A0B0"/>
                </a:solidFill>
                <a:latin typeface="Courier"/>
              </a:rPr>
              <a:t># place the key in its correct gap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arr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insertion sort completely on </a:t>
            </a:r>
            <a:r>
              <a:rPr>
                <a:latin typeface="Courier"/>
              </a:rPr>
              <a:t>[5, 2, 4, 1, 3]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i=1: key=2. Compare to arr[0]=5: 5&gt;2, shift → [5,5,4,1,3], j=-1. Place 2 at j+1=0 → [2,5,4,1,3]
i=2: key=4. Compare to arr[1]=5: 5&gt;4, shift → [2,5,5,1,3], j=0. arr[0]=2, not &gt;4, stop. Place 4 at j+1=1 → [2,4,5,1,3]
i=3: key=1. Compare to arr[2]=5: shift. arr[1]=4: shift. arr[0]=2: shift. j=-1.
     → [2,2,4,5,3] then [2,4,4,5,3] then place 1 at 0 → [1,2,4,5,3]
i=4: key=3. Compare to arr[3]=5: shift → [1,2,4,5,5]. arr[2]=4: shift → [1,2,4,4,5]. arr[1]=2: not &gt;3, stop.
     Place 3 at j+1=2 → [1,2,3,4,5]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second complete trace — nearly sorted input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invariant, stated formally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case: an already-sorted array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Worst case: a reverse-sorted array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as a function of “how far out of place,” precisely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this one is actually used: hybrid sorting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the growing sorted prefix</a:t>
            </a:r>
          </a:p>
        </p:txBody>
      </p:sp>
      <p:pic>
        <p:nvPicPr>
          <p:cNvPr descr="figures/insertion-sort-prefix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01800"/>
            <a:ext cx="8229600" cy="2374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binary insertion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bisect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binary_insertion_sort(arr):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(arr)):</a:t>
            </a:r>
            <a:br/>
            <a:r>
              <a:rPr>
                <a:latin typeface="Courier"/>
              </a:rPr>
              <a:t>        key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arr[i]</a:t>
            </a:r>
            <a:br/>
            <a:r>
              <a:rPr>
                <a:latin typeface="Courier"/>
              </a:rPr>
              <a:t>        pos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bisect.bisect_left(arr, key,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i)   </a:t>
            </a:r>
            <a:r>
              <a:rPr i="1">
                <a:solidFill>
                  <a:srgbClr val="60A0B0"/>
                </a:solidFill>
                <a:latin typeface="Courier"/>
              </a:rPr>
              <a:t># O(log i) search</a:t>
            </a:r>
            <a:br/>
            <a:r>
              <a:rPr>
                <a:latin typeface="Courier"/>
              </a:rPr>
              <a:t>        arr[pos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:i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arr[pos:i]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shift block right</a:t>
            </a:r>
            <a:br/>
            <a:r>
              <a:rPr>
                <a:latin typeface="Courier"/>
              </a:rPr>
              <a:t>        arr[pos]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key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arr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Counting inversions in </a:t>
            </a:r>
            <a:r>
              <a:rPr>
                <a:latin typeface="Courier"/>
              </a:rPr>
              <a:t>[1, 2, 3, 5, 4]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Comparing all three simple sorts, side by side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best case or worst case?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insertion sort’s limits show up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Insertion Sort: The One Simple Sort Actually Used</dc:title>
  <dc:creator>Dr. Innocent Nyalala</dc:creator>
  <cp:keywords/>
  <dcterms:created xsi:type="dcterms:W3CDTF">2026-08-04T06:49:00Z</dcterms:created>
  <dcterms:modified xsi:type="dcterms:W3CDTF">2026-08-04T06:49:00Z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5, Lecture 2</vt:lpwstr>
  </property>
  <property fmtid="{D5CDD505-2E9C-101B-9397-08002B2CF9AE}" pid="10" name="toc-title">
    <vt:lpwstr>Table of contents</vt:lpwstr>
  </property>
</Properties>
</file>