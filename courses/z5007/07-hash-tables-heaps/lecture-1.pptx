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svg" ContentType="image/svg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0" Type="http://schemas.openxmlformats.org/officeDocument/2006/relationships/slide" Target="slides/slide19.xml" /><Relationship Id="rId21" Type="http://schemas.openxmlformats.org/officeDocument/2006/relationships/slide" Target="slides/slide20.xml" /><Relationship Id="rId22" Type="http://schemas.openxmlformats.org/officeDocument/2006/relationships/slide" Target="slides/slide21.xml" /><Relationship Id="rId24" Type="http://schemas.openxmlformats.org/officeDocument/2006/relationships/viewProps" Target="viewProps.xml" /><Relationship Id="rId23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26" Type="http://schemas.openxmlformats.org/officeDocument/2006/relationships/tableStyles" Target="tableStyles.xml" /><Relationship Id="rId25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.svg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lvl="0" indent="0" marL="0">
              <a:buNone/>
            </a:pPr>
            <a:r>
              <a:rPr/>
              <a:t>Hash Tables: O(1) Average, By Giving Up Order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371600" y="2914650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Programming and Data Structures — Week 8, Lecture 1</a:t>
            </a:r>
            <a:br/>
            <a:br/>
            <a:r>
              <a:rPr/>
              <a:t>Dr. Innocent Nyalala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Objectives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Outline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coat-check-ticket analogy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From key to index: the hash function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 b="1">
                <a:solidFill>
                  <a:srgbClr val="007020"/>
                </a:solidFill>
                <a:latin typeface="Courier"/>
              </a:rPr>
              <a:t>def</a:t>
            </a:r>
            <a:r>
              <a:rPr>
                <a:latin typeface="Courier"/>
              </a:rPr>
              <a:t> simple_hash(key, table_size):</a:t>
            </a:r>
            <a:br/>
            <a:r>
              <a:rPr>
                <a:latin typeface="Courier"/>
              </a:rPr>
              <a:t>    total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08000"/>
                </a:solidFill>
                <a:latin typeface="Courier"/>
              </a:rPr>
              <a:t>sum</a:t>
            </a:r>
            <a:r>
              <a:rPr>
                <a:latin typeface="Courier"/>
              </a:rPr>
              <a:t>(</a:t>
            </a:r>
            <a:r>
              <a:rPr>
                <a:solidFill>
                  <a:srgbClr val="008000"/>
                </a:solidFill>
                <a:latin typeface="Courier"/>
              </a:rPr>
              <a:t>ord</a:t>
            </a:r>
            <a:r>
              <a:rPr>
                <a:latin typeface="Courier"/>
              </a:rPr>
              <a:t>(ch) </a:t>
            </a:r>
            <a:r>
              <a:rPr b="1">
                <a:solidFill>
                  <a:srgbClr val="007020"/>
                </a:solidFill>
                <a:latin typeface="Courier"/>
              </a:rPr>
              <a:t>for</a:t>
            </a:r>
            <a:r>
              <a:rPr>
                <a:latin typeface="Courier"/>
              </a:rPr>
              <a:t> ch </a:t>
            </a:r>
            <a:r>
              <a:rPr b="1">
                <a:solidFill>
                  <a:srgbClr val="007020"/>
                </a:solidFill>
                <a:latin typeface="Courier"/>
              </a:rPr>
              <a:t>in</a:t>
            </a:r>
            <a:r>
              <a:rPr>
                <a:latin typeface="Courier"/>
              </a:rPr>
              <a:t> key)    </a:t>
            </a:r>
            <a:r>
              <a:rPr i="1">
                <a:solidFill>
                  <a:srgbClr val="60A0B0"/>
                </a:solidFill>
                <a:latin typeface="Courier"/>
              </a:rPr>
              <a:t># sum of character codes</a:t>
            </a:r>
            <a:br/>
            <a:r>
              <a:rPr>
                <a:latin typeface="Courier"/>
              </a:rPr>
              <a:t>    </a:t>
            </a:r>
            <a:r>
              <a:rPr b="1">
                <a:solidFill>
                  <a:srgbClr val="007020"/>
                </a:solidFill>
                <a:latin typeface="Courier"/>
              </a:rPr>
              <a:t>return</a:t>
            </a:r>
            <a:r>
              <a:rPr>
                <a:latin typeface="Courier"/>
              </a:rPr>
              <a:t> total </a:t>
            </a:r>
            <a:r>
              <a:rPr>
                <a:solidFill>
                  <a:srgbClr val="666666"/>
                </a:solidFill>
                <a:latin typeface="Courier"/>
              </a:rPr>
              <a:t>%</a:t>
            </a:r>
            <a:r>
              <a:rPr>
                <a:latin typeface="Courier"/>
              </a:rPr>
              <a:t> table_size               </a:t>
            </a:r>
            <a:r>
              <a:rPr i="1">
                <a:solidFill>
                  <a:srgbClr val="60A0B0"/>
                </a:solidFill>
                <a:latin typeface="Courier"/>
              </a:rPr>
              <a:t># fit into the table's range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Tracing the hash function on real keys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simple_hash("cat", 10):
  ord('c')=99, ord('a')=97, ord('t')=116 → sum=312
  312 % 10 = 2
simple_hash("act", 10):
  ord('a')=97, ord('c')=99, ord('t')=116 → sum=312
  312 % 10 = 2   &lt;-- SAME index as "cat"! (an anagram problem, examined next)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What makes a hash function “good”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Collisions: unavoidable, and why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Resolving collisions: chaining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 b="1">
                <a:solidFill>
                  <a:srgbClr val="007020"/>
                </a:solidFill>
                <a:latin typeface="Courier"/>
              </a:rPr>
              <a:t>class</a:t>
            </a:r>
            <a:r>
              <a:rPr>
                <a:latin typeface="Courier"/>
              </a:rPr>
              <a:t> HashTable:</a:t>
            </a:r>
            <a:br/>
            <a:r>
              <a:rPr>
                <a:latin typeface="Courier"/>
              </a:rPr>
              <a:t>    </a:t>
            </a:r>
            <a:r>
              <a:rPr b="1">
                <a:solidFill>
                  <a:srgbClr val="007020"/>
                </a:solidFill>
                <a:latin typeface="Courier"/>
              </a:rPr>
              <a:t>def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6287E"/>
                </a:solidFill>
                <a:latin typeface="Courier"/>
              </a:rPr>
              <a:t>__init__</a:t>
            </a:r>
            <a:r>
              <a:rPr>
                <a:latin typeface="Courier"/>
              </a:rPr>
              <a:t>(</a:t>
            </a:r>
            <a:r>
              <a:rPr>
                <a:solidFill>
                  <a:srgbClr val="19177C"/>
                </a:solidFill>
                <a:latin typeface="Courier"/>
              </a:rPr>
              <a:t>self</a:t>
            </a:r>
            <a:r>
              <a:rPr>
                <a:latin typeface="Courier"/>
              </a:rPr>
              <a:t>, size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solidFill>
                  <a:srgbClr val="40A070"/>
                </a:solidFill>
                <a:latin typeface="Courier"/>
              </a:rPr>
              <a:t>10</a:t>
            </a:r>
            <a:r>
              <a:rPr>
                <a:latin typeface="Courier"/>
              </a:rPr>
              <a:t>):</a:t>
            </a:r>
            <a:br/>
            <a:r>
              <a:rPr>
                <a:latin typeface="Courier"/>
              </a:rPr>
              <a:t>        </a:t>
            </a:r>
            <a:r>
              <a:rPr>
                <a:solidFill>
                  <a:srgbClr val="19177C"/>
                </a:solidFill>
                <a:latin typeface="Courier"/>
              </a:rPr>
              <a:t>self</a:t>
            </a:r>
            <a:r>
              <a:rPr>
                <a:latin typeface="Courier"/>
              </a:rPr>
              <a:t>.size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size</a:t>
            </a:r>
            <a:br/>
            <a:r>
              <a:rPr>
                <a:latin typeface="Courier"/>
              </a:rPr>
              <a:t>        </a:t>
            </a:r>
            <a:r>
              <a:rPr>
                <a:solidFill>
                  <a:srgbClr val="19177C"/>
                </a:solidFill>
                <a:latin typeface="Courier"/>
              </a:rPr>
              <a:t>self</a:t>
            </a:r>
            <a:r>
              <a:rPr>
                <a:latin typeface="Courier"/>
              </a:rPr>
              <a:t>.buckets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[[] </a:t>
            </a:r>
            <a:r>
              <a:rPr b="1">
                <a:solidFill>
                  <a:srgbClr val="007020"/>
                </a:solidFill>
                <a:latin typeface="Courier"/>
              </a:rPr>
              <a:t>for</a:t>
            </a:r>
            <a:r>
              <a:rPr>
                <a:latin typeface="Courier"/>
              </a:rPr>
              <a:t> _ </a:t>
            </a:r>
            <a:r>
              <a:rPr b="1">
                <a:solidFill>
                  <a:srgbClr val="007020"/>
                </a:solidFill>
                <a:latin typeface="Courier"/>
              </a:rPr>
              <a:t>in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08000"/>
                </a:solidFill>
                <a:latin typeface="Courier"/>
              </a:rPr>
              <a:t>range</a:t>
            </a:r>
            <a:r>
              <a:rPr>
                <a:latin typeface="Courier"/>
              </a:rPr>
              <a:t>(size)]    </a:t>
            </a:r>
            <a:r>
              <a:rPr i="1">
                <a:solidFill>
                  <a:srgbClr val="60A0B0"/>
                </a:solidFill>
                <a:latin typeface="Courier"/>
              </a:rPr>
              <a:t># each slot holds a LIST</a:t>
            </a:r>
            <a:br/>
            <a:br/>
            <a:r>
              <a:rPr>
                <a:latin typeface="Courier"/>
              </a:rPr>
              <a:t>    </a:t>
            </a:r>
            <a:r>
              <a:rPr b="1">
                <a:solidFill>
                  <a:srgbClr val="007020"/>
                </a:solidFill>
                <a:latin typeface="Courier"/>
              </a:rPr>
              <a:t>def</a:t>
            </a:r>
            <a:r>
              <a:rPr>
                <a:latin typeface="Courier"/>
              </a:rPr>
              <a:t> put(</a:t>
            </a:r>
            <a:r>
              <a:rPr>
                <a:solidFill>
                  <a:srgbClr val="19177C"/>
                </a:solidFill>
                <a:latin typeface="Courier"/>
              </a:rPr>
              <a:t>self</a:t>
            </a:r>
            <a:r>
              <a:rPr>
                <a:latin typeface="Courier"/>
              </a:rPr>
              <a:t>, key, value):</a:t>
            </a:r>
            <a:br/>
            <a:r>
              <a:rPr>
                <a:latin typeface="Courier"/>
              </a:rPr>
              <a:t>        index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19177C"/>
                </a:solidFill>
                <a:latin typeface="Courier"/>
              </a:rPr>
              <a:t>self</a:t>
            </a:r>
            <a:r>
              <a:rPr>
                <a:latin typeface="Courier"/>
              </a:rPr>
              <a:t>._hash(key)</a:t>
            </a:r>
            <a:br/>
            <a:r>
              <a:rPr>
                <a:latin typeface="Courier"/>
              </a:rPr>
              <a:t>        </a:t>
            </a:r>
            <a:r>
              <a:rPr b="1">
                <a:solidFill>
                  <a:srgbClr val="007020"/>
                </a:solidFill>
                <a:latin typeface="Courier"/>
              </a:rPr>
              <a:t>for</a:t>
            </a:r>
            <a:r>
              <a:rPr>
                <a:latin typeface="Courier"/>
              </a:rPr>
              <a:t> i, (k, v) </a:t>
            </a:r>
            <a:r>
              <a:rPr b="1">
                <a:solidFill>
                  <a:srgbClr val="007020"/>
                </a:solidFill>
                <a:latin typeface="Courier"/>
              </a:rPr>
              <a:t>in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08000"/>
                </a:solidFill>
                <a:latin typeface="Courier"/>
              </a:rPr>
              <a:t>enumerate</a:t>
            </a:r>
            <a:r>
              <a:rPr>
                <a:latin typeface="Courier"/>
              </a:rPr>
              <a:t>(</a:t>
            </a:r>
            <a:r>
              <a:rPr>
                <a:solidFill>
                  <a:srgbClr val="19177C"/>
                </a:solidFill>
                <a:latin typeface="Courier"/>
              </a:rPr>
              <a:t>self</a:t>
            </a:r>
            <a:r>
              <a:rPr>
                <a:latin typeface="Courier"/>
              </a:rPr>
              <a:t>.buckets[index]):</a:t>
            </a:r>
            <a:br/>
            <a:r>
              <a:rPr>
                <a:latin typeface="Courier"/>
              </a:rPr>
              <a:t>            </a:t>
            </a:r>
            <a:r>
              <a:rPr b="1">
                <a:solidFill>
                  <a:srgbClr val="007020"/>
                </a:solidFill>
                <a:latin typeface="Courier"/>
              </a:rPr>
              <a:t>if</a:t>
            </a:r>
            <a:r>
              <a:rPr>
                <a:latin typeface="Courier"/>
              </a:rPr>
              <a:t> k </a:t>
            </a:r>
            <a:r>
              <a:rPr>
                <a:solidFill>
                  <a:srgbClr val="666666"/>
                </a:solidFill>
                <a:latin typeface="Courier"/>
              </a:rPr>
              <a:t>==</a:t>
            </a:r>
            <a:r>
              <a:rPr>
                <a:latin typeface="Courier"/>
              </a:rPr>
              <a:t> key:</a:t>
            </a:r>
            <a:br/>
            <a:r>
              <a:rPr>
                <a:latin typeface="Courier"/>
              </a:rPr>
              <a:t>                </a:t>
            </a:r>
            <a:r>
              <a:rPr>
                <a:solidFill>
                  <a:srgbClr val="19177C"/>
                </a:solidFill>
                <a:latin typeface="Courier"/>
              </a:rPr>
              <a:t>self</a:t>
            </a:r>
            <a:r>
              <a:rPr>
                <a:latin typeface="Courier"/>
              </a:rPr>
              <a:t>.buckets[index][i]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(key, value)   </a:t>
            </a:r>
            <a:r>
              <a:rPr i="1">
                <a:solidFill>
                  <a:srgbClr val="60A0B0"/>
                </a:solidFill>
                <a:latin typeface="Courier"/>
              </a:rPr>
              <a:t># update existing</a:t>
            </a:r>
            <a:br/>
            <a:r>
              <a:rPr>
                <a:latin typeface="Courier"/>
              </a:rPr>
              <a:t>                </a:t>
            </a:r>
            <a:r>
              <a:rPr b="1">
                <a:solidFill>
                  <a:srgbClr val="007020"/>
                </a:solidFill>
                <a:latin typeface="Courier"/>
              </a:rPr>
              <a:t>return</a:t>
            </a:r>
            <a:br/>
            <a:r>
              <a:rPr>
                <a:latin typeface="Courier"/>
              </a:rPr>
              <a:t>        </a:t>
            </a:r>
            <a:r>
              <a:rPr>
                <a:solidFill>
                  <a:srgbClr val="19177C"/>
                </a:solidFill>
                <a:latin typeface="Courier"/>
              </a:rPr>
              <a:t>self</a:t>
            </a:r>
            <a:r>
              <a:rPr>
                <a:latin typeface="Courier"/>
              </a:rPr>
              <a:t>.buckets[index].append((key, value))         </a:t>
            </a:r>
            <a:r>
              <a:rPr i="1">
                <a:solidFill>
                  <a:srgbClr val="60A0B0"/>
                </a:solidFill>
                <a:latin typeface="Courier"/>
              </a:rPr>
              <a:t># append new</a:t>
            </a:r>
            <a:br/>
            <a:br/>
            <a:r>
              <a:rPr>
                <a:latin typeface="Courier"/>
              </a:rPr>
              <a:t>    </a:t>
            </a:r>
            <a:r>
              <a:rPr b="1">
                <a:solidFill>
                  <a:srgbClr val="007020"/>
                </a:solidFill>
                <a:latin typeface="Courier"/>
              </a:rPr>
              <a:t>def</a:t>
            </a:r>
            <a:r>
              <a:rPr>
                <a:latin typeface="Courier"/>
              </a:rPr>
              <a:t> _hash(</a:t>
            </a:r>
            <a:r>
              <a:rPr>
                <a:solidFill>
                  <a:srgbClr val="19177C"/>
                </a:solidFill>
                <a:latin typeface="Courier"/>
              </a:rPr>
              <a:t>self</a:t>
            </a:r>
            <a:r>
              <a:rPr>
                <a:latin typeface="Courier"/>
              </a:rPr>
              <a:t>, key):</a:t>
            </a:r>
            <a:br/>
            <a:r>
              <a:rPr>
                <a:latin typeface="Courier"/>
              </a:rPr>
              <a:t>        </a:t>
            </a:r>
            <a:r>
              <a:rPr b="1">
                <a:solidFill>
                  <a:srgbClr val="007020"/>
                </a:solidFill>
                <a:latin typeface="Courier"/>
              </a:rPr>
              <a:t>return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08000"/>
                </a:solidFill>
                <a:latin typeface="Courier"/>
              </a:rPr>
              <a:t>sum</a:t>
            </a:r>
            <a:r>
              <a:rPr>
                <a:latin typeface="Courier"/>
              </a:rPr>
              <a:t>(</a:t>
            </a:r>
            <a:r>
              <a:rPr>
                <a:solidFill>
                  <a:srgbClr val="008000"/>
                </a:solidFill>
                <a:latin typeface="Courier"/>
              </a:rPr>
              <a:t>ord</a:t>
            </a:r>
            <a:r>
              <a:rPr>
                <a:latin typeface="Courier"/>
              </a:rPr>
              <a:t>(ch) </a:t>
            </a:r>
            <a:r>
              <a:rPr b="1">
                <a:solidFill>
                  <a:srgbClr val="007020"/>
                </a:solidFill>
                <a:latin typeface="Courier"/>
              </a:rPr>
              <a:t>for</a:t>
            </a:r>
            <a:r>
              <a:rPr>
                <a:latin typeface="Courier"/>
              </a:rPr>
              <a:t> ch </a:t>
            </a:r>
            <a:r>
              <a:rPr b="1">
                <a:solidFill>
                  <a:srgbClr val="007020"/>
                </a:solidFill>
                <a:latin typeface="Courier"/>
              </a:rPr>
              <a:t>in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08000"/>
                </a:solidFill>
                <a:latin typeface="Courier"/>
              </a:rPr>
              <a:t>str</a:t>
            </a:r>
            <a:r>
              <a:rPr>
                <a:latin typeface="Courier"/>
              </a:rPr>
              <a:t>(key)) </a:t>
            </a:r>
            <a:r>
              <a:rPr>
                <a:solidFill>
                  <a:srgbClr val="666666"/>
                </a:solidFill>
                <a:latin typeface="Courier"/>
              </a:rPr>
              <a:t>%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19177C"/>
                </a:solidFill>
                <a:latin typeface="Courier"/>
              </a:rPr>
              <a:t>self</a:t>
            </a:r>
            <a:r>
              <a:rPr>
                <a:latin typeface="Courier"/>
              </a:rPr>
              <a:t>.size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Tracing chaining completely, with a collision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HashTable(size=5). hash("cat")=? ord sum 312 % 5 = 2. hash("dog")? sum=314 % 5 = 4.
hash("bat")? sum=314 % 5 = 4   &lt;-- collides with "dog"!
put("cat", 1): buckets[2] = [("cat", 1)]
put("dog", 2): buckets[4] = [("dog", 2)]
put("bat", 3): buckets[4] = [("dog", 2), ("bat", 3)]   &lt;-- appended, collision resolved
get("bat"): hash("bat")=4 → scan buckets[4]: ("dog",2) no match, ("bat",3) MATCH → return 3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picture: buckets, some empty, some chained</a:t>
            </a:r>
          </a:p>
        </p:txBody>
      </p:sp>
      <p:pic>
        <p:nvPicPr>
          <p:cNvPr descr="figures/hash-table-chaining.sv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863600" y="1193800"/>
            <a:ext cx="74168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Why average-case O(1) — the load factor argument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worst-case caveat, stated honestly</a:t>
            </a:r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MTech addition — open addressing, a different strategy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 b="1">
                <a:solidFill>
                  <a:srgbClr val="007020"/>
                </a:solidFill>
                <a:latin typeface="Courier"/>
              </a:rPr>
              <a:t>def</a:t>
            </a:r>
            <a:r>
              <a:rPr>
                <a:latin typeface="Courier"/>
              </a:rPr>
              <a:t> put_open_addressing(</a:t>
            </a:r>
            <a:r>
              <a:rPr>
                <a:solidFill>
                  <a:srgbClr val="19177C"/>
                </a:solidFill>
                <a:latin typeface="Courier"/>
              </a:rPr>
              <a:t>self</a:t>
            </a:r>
            <a:r>
              <a:rPr>
                <a:latin typeface="Courier"/>
              </a:rPr>
              <a:t>, key, value):</a:t>
            </a:r>
            <a:br/>
            <a:r>
              <a:rPr>
                <a:latin typeface="Courier"/>
              </a:rPr>
              <a:t>    index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19177C"/>
                </a:solidFill>
                <a:latin typeface="Courier"/>
              </a:rPr>
              <a:t>self</a:t>
            </a:r>
            <a:r>
              <a:rPr>
                <a:latin typeface="Courier"/>
              </a:rPr>
              <a:t>._hash(key)</a:t>
            </a:r>
            <a:br/>
            <a:r>
              <a:rPr>
                <a:latin typeface="Courier"/>
              </a:rPr>
              <a:t>    </a:t>
            </a:r>
            <a:r>
              <a:rPr b="1">
                <a:solidFill>
                  <a:srgbClr val="007020"/>
                </a:solidFill>
                <a:latin typeface="Courier"/>
              </a:rPr>
              <a:t>while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19177C"/>
                </a:solidFill>
                <a:latin typeface="Courier"/>
              </a:rPr>
              <a:t>self</a:t>
            </a:r>
            <a:r>
              <a:rPr>
                <a:latin typeface="Courier"/>
              </a:rPr>
              <a:t>.slots[index] </a:t>
            </a:r>
            <a:r>
              <a:rPr b="1">
                <a:solidFill>
                  <a:srgbClr val="007020"/>
                </a:solidFill>
                <a:latin typeface="Courier"/>
              </a:rPr>
              <a:t>is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not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19177C"/>
                </a:solidFill>
                <a:latin typeface="Courier"/>
              </a:rPr>
              <a:t>None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and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19177C"/>
                </a:solidFill>
                <a:latin typeface="Courier"/>
              </a:rPr>
              <a:t>self</a:t>
            </a:r>
            <a:r>
              <a:rPr>
                <a:latin typeface="Courier"/>
              </a:rPr>
              <a:t>.slots[index][</a:t>
            </a:r>
            <a:r>
              <a:rPr>
                <a:solidFill>
                  <a:srgbClr val="40A070"/>
                </a:solidFill>
                <a:latin typeface="Courier"/>
              </a:rPr>
              <a:t>0</a:t>
            </a:r>
            <a:r>
              <a:rPr>
                <a:latin typeface="Courier"/>
              </a:rPr>
              <a:t>] </a:t>
            </a:r>
            <a:r>
              <a:rPr>
                <a:solidFill>
                  <a:srgbClr val="666666"/>
                </a:solidFill>
                <a:latin typeface="Courier"/>
              </a:rPr>
              <a:t>!=</a:t>
            </a:r>
            <a:r>
              <a:rPr>
                <a:latin typeface="Courier"/>
              </a:rPr>
              <a:t> key:</a:t>
            </a:r>
            <a:br/>
            <a:r>
              <a:rPr>
                <a:latin typeface="Courier"/>
              </a:rPr>
              <a:t>        index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(index </a:t>
            </a:r>
            <a:r>
              <a:rPr>
                <a:solidFill>
                  <a:srgbClr val="666666"/>
                </a:solidFill>
                <a:latin typeface="Courier"/>
              </a:rPr>
              <a:t>+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1</a:t>
            </a:r>
            <a:r>
              <a:rPr>
                <a:latin typeface="Courier"/>
              </a:rPr>
              <a:t>) </a:t>
            </a:r>
            <a:r>
              <a:rPr>
                <a:solidFill>
                  <a:srgbClr val="666666"/>
                </a:solidFill>
                <a:latin typeface="Courier"/>
              </a:rPr>
              <a:t>%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19177C"/>
                </a:solidFill>
                <a:latin typeface="Courier"/>
              </a:rPr>
              <a:t>self</a:t>
            </a:r>
            <a:r>
              <a:rPr>
                <a:latin typeface="Courier"/>
              </a:rPr>
              <a:t>.size    </a:t>
            </a:r>
            <a:r>
              <a:rPr i="1">
                <a:solidFill>
                  <a:srgbClr val="60A0B0"/>
                </a:solidFill>
                <a:latin typeface="Courier"/>
              </a:rPr>
              <a:t># linear probing: try the NEXT slot</a:t>
            </a:r>
            <a:br/>
            <a:r>
              <a:rPr>
                <a:latin typeface="Courier"/>
              </a:rPr>
              <a:t>    </a:t>
            </a:r>
            <a:r>
              <a:rPr>
                <a:solidFill>
                  <a:srgbClr val="19177C"/>
                </a:solidFill>
                <a:latin typeface="Courier"/>
              </a:rPr>
              <a:t>self</a:t>
            </a:r>
            <a:r>
              <a:rPr>
                <a:latin typeface="Courier"/>
              </a:rPr>
              <a:t>.slots[index]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(key, value)</a:t>
            </a:r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Resizing a hash table: Week 2’s idea, applied again</a:t>
            </a:r>
          </a:p>
        </p:txBody>
      </p:sp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Exercise</a:t>
            </a:r>
          </a:p>
        </p:txBody>
      </p:sp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Connecting back to Week 7’s ordered-set trade-off</a:t>
            </a:r>
          </a:p>
        </p:txBody>
      </p:sp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Quiz — predict the collision</a:t>
            </a:r>
          </a:p>
        </p:txBody>
      </p:sp>
    </p:spTree>
  </p:cSld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Quiz — answer</a:t>
            </a:r>
          </a:p>
        </p:txBody>
      </p:sp>
    </p:spTree>
  </p:cSld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Real-world use: Python’s </a:t>
            </a:r>
            <a:r>
              <a:rPr>
                <a:latin typeface="Courier"/>
              </a:rPr>
              <a:t>dict</a:t>
            </a:r>
          </a:p>
        </p:txBody>
      </p:sp>
    </p:spTree>
  </p:cSld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Summary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Hash Tables: O(1) Average, By Giving Up Order</dc:title>
  <dc:creator>Dr. Innocent Nyalala</dc:creator>
  <cp:keywords/>
  <dcterms:created xsi:type="dcterms:W3CDTF">2026-08-04T08:29:42Z</dcterms:created>
  <dcterms:modified xsi:type="dcterms:W3CDTF">2026-08-04T08:29:42Z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uthors">
    <vt:lpwstr/>
  </property>
  <property fmtid="{D5CDD505-2E9C-101B-9397-08002B2CF9AE}" pid="3" name="biblio-config">
    <vt:lpwstr>True</vt:lpwstr>
  </property>
  <property fmtid="{D5CDD505-2E9C-101B-9397-08002B2CF9AE}" pid="4" name="by-author">
    <vt:lpwstr/>
  </property>
  <property fmtid="{D5CDD505-2E9C-101B-9397-08002B2CF9AE}" pid="5" name="header-includes">
    <vt:lpwstr/>
  </property>
  <property fmtid="{D5CDD505-2E9C-101B-9397-08002B2CF9AE}" pid="6" name="include-after">
    <vt:lpwstr/>
  </property>
  <property fmtid="{D5CDD505-2E9C-101B-9397-08002B2CF9AE}" pid="7" name="include-before">
    <vt:lpwstr/>
  </property>
  <property fmtid="{D5CDD505-2E9C-101B-9397-08002B2CF9AE}" pid="8" name="labels">
    <vt:lpwstr/>
  </property>
  <property fmtid="{D5CDD505-2E9C-101B-9397-08002B2CF9AE}" pid="9" name="subtitle">
    <vt:lpwstr>Programming and Data Structures — Week 8, Lecture 1</vt:lpwstr>
  </property>
  <property fmtid="{D5CDD505-2E9C-101B-9397-08002B2CF9AE}" pid="10" name="toc-title">
    <vt:lpwstr>Table of contents</vt:lpwstr>
  </property>
</Properties>
</file>