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Priority Queues at Work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8,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disciplined-interface idea, recalled from Week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PriorityQueue</a:t>
            </a:r>
            <a:r>
              <a:rPr/>
              <a:t>, built on Lecture 2’s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PriorityQueue: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MinHeap()          </a:t>
            </a:r>
            <a:r>
              <a:rPr i="1">
                <a:solidFill>
                  <a:srgbClr val="60A0B0"/>
                </a:solidFill>
                <a:latin typeface="Courier"/>
              </a:rPr>
              <a:t># Lecture 2's structure, reused directly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priority, item):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._heap.insert((priority, item))    </a:t>
            </a:r>
            <a:r>
              <a:rPr i="1">
                <a:solidFill>
                  <a:srgbClr val="60A0B0"/>
                </a:solidFill>
                <a:latin typeface="Courier"/>
              </a:rPr>
              <a:t># tuples compare element-wise: priority first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pop(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priority, item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._heap.extract_min()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item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is_empty(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._heap.data)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Python’s </a:t>
            </a:r>
            <a:r>
              <a:rPr>
                <a:latin typeface="Courier"/>
              </a:rPr>
              <a:t>heapq</a:t>
            </a:r>
            <a:r>
              <a:rPr/>
              <a:t>: what it actually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heapq</a:t>
            </a:r>
            <a:br/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heapq.heapify(data)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in-place, O(n) — Lecture 2's MTech addition</a:t>
            </a:r>
            <a:br/>
            <a:r>
              <a:rPr>
                <a:latin typeface="Courier"/>
              </a:rPr>
              <a:t>heapq.heappush(data,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         </a:t>
            </a:r>
            <a:r>
              <a:rPr i="1">
                <a:solidFill>
                  <a:srgbClr val="60A0B0"/>
                </a:solidFill>
                <a:latin typeface="Courier"/>
              </a:rPr>
              <a:t># O(log n) — Lecture 2's heapify_up</a:t>
            </a:r>
            <a:br/>
            <a:r>
              <a:rPr>
                <a:latin typeface="Courier"/>
              </a:rPr>
              <a:t>smallest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heapq.heappop(data)   </a:t>
            </a:r>
            <a:r>
              <a:rPr i="1">
                <a:solidFill>
                  <a:srgbClr val="60A0B0"/>
                </a:solidFill>
                <a:latin typeface="Courier"/>
              </a:rPr>
              <a:t># O(log n) — Lecture 2's heapify_down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max-heap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heapq</a:t>
            </a:r>
            <a:br/>
            <a:br/>
            <a:r>
              <a:rPr>
                <a:latin typeface="Courier"/>
              </a:rPr>
              <a:t>max_heap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value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heapq.heappush(max_heap,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value)     </a:t>
            </a:r>
            <a:r>
              <a:rPr i="1">
                <a:solidFill>
                  <a:srgbClr val="60A0B0"/>
                </a:solidFill>
                <a:latin typeface="Courier"/>
              </a:rPr>
              <a:t># negate on the way IN</a:t>
            </a:r>
            <a:br/>
            <a:br/>
            <a:r>
              <a:rPr>
                <a:latin typeface="Courier"/>
              </a:rPr>
              <a:t>largest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heapq.heappop(max_heap)         </a:t>
            </a:r>
            <a:r>
              <a:rPr i="1">
                <a:solidFill>
                  <a:srgbClr val="60A0B0"/>
                </a:solidFill>
                <a:latin typeface="Courier"/>
              </a:rPr>
              <a:t># negate again on the way OUT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tuples compare the way they do — a quick digression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a task scheduler, traced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scheduler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PriorityQueue()</a:t>
            </a:r>
            <a:br/>
            <a:r>
              <a:rPr>
                <a:latin typeface="Courier"/>
              </a:rPr>
              <a:t>scheduler.push(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"send weekly report"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scheduler.push(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"handle server outage"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scheduler.push(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"review pull request"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scheduler.is_empty():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(scheduler.pop())</a:t>
            </a:r>
          </a:p>
          <a:p>
            <a:pPr lvl="0" indent="0">
              <a:buNone/>
            </a:pPr>
            <a:r>
              <a:rPr>
                <a:latin typeface="Courier"/>
              </a:rPr>
              <a:t>Output:
handle server outage       (priority 1 — most urgent)
review pull request        (priority 2)
send weekly report         (priority 3 — least urgent)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merging k sorted lists, connecting to Week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merge_k_sorted(lists):</a:t>
            </a:r>
            <a:br/>
            <a:r>
              <a:rPr>
                <a:latin typeface="Courier"/>
              </a:rPr>
              <a:t>    pq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PriorityQueue()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lst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(lists):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lst:</a:t>
            </a:r>
            <a:br/>
            <a:r>
              <a:rPr>
                <a:latin typeface="Courier"/>
              </a:rPr>
              <a:t>            pq.push(lst[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(i,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          </a:t>
            </a:r>
            <a:r>
              <a:rPr i="1">
                <a:solidFill>
                  <a:srgbClr val="60A0B0"/>
                </a:solidFill>
                <a:latin typeface="Courier"/>
              </a:rPr>
              <a:t># (value, (list_index, element_index))</a:t>
            </a:r>
            <a:br/>
            <a:br/>
            <a:r>
              <a:rPr>
                <a:latin typeface="Courier"/>
              </a:rPr>
              <a:t>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pq.is_empty():</a:t>
            </a:r>
            <a:br/>
            <a:r>
              <a:rPr>
                <a:latin typeface="Courier"/>
              </a:rPr>
              <a:t>        i, 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pq.pop()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pop() returns the ITEM only, per this lecture's PriorityQueue</a:t>
            </a:r>
            <a:br/>
            <a:r>
              <a:rPr>
                <a:latin typeface="Courier"/>
              </a:rPr>
              <a:t>        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lists[i][idx]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look the value up directly — it was never lost, just not returned</a:t>
            </a:r>
            <a:br/>
            <a:r>
              <a:rPr>
                <a:latin typeface="Courier"/>
              </a:rPr>
              <a:t>        result.append(value)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idx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(lists[i]):</a:t>
            </a:r>
            <a:br/>
            <a:r>
              <a:rPr>
                <a:latin typeface="Courier"/>
              </a:rPr>
              <a:t>            pq.push(lists[i][idx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(i, idx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k lists, one priority queue holding the fronts</a:t>
            </a:r>
          </a:p>
        </p:txBody>
      </p:sp>
      <p:pic>
        <p:nvPicPr>
          <p:cNvPr descr="figures/k-way-merg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merge_k_sorted on a small example, completely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Preview: Dijkstra’s algorithm’s core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Preview only — full treatment and correctness proof in Week 12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dijkstra_preview(graph, start):</a:t>
            </a:r>
            <a:br/>
            <a:r>
              <a:rPr>
                <a:latin typeface="Courier"/>
              </a:rPr>
              <a:t>    distances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{start: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pq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PriorityQueue()</a:t>
            </a:r>
            <a:br/>
            <a:r>
              <a:rPr>
                <a:latin typeface="Courier"/>
              </a:rPr>
              <a:t>    pq.push(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start)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pq.is_empty():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pq.pop()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graph[current]:</a:t>
            </a:r>
            <a:br/>
            <a:r>
              <a:rPr>
                <a:latin typeface="Courier"/>
              </a:rPr>
              <a:t>            new_dist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distances[current]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weight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distances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new_dist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distances[neighbor]:</a:t>
            </a:r>
            <a:br/>
            <a:r>
              <a:rPr>
                <a:latin typeface="Courier"/>
              </a:rPr>
              <a:t>                distances[neighbor]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new_dist</a:t>
            </a:r>
            <a:br/>
            <a:r>
              <a:rPr>
                <a:latin typeface="Courier"/>
              </a:rPr>
              <a:t>                pq.push(new_dist, neighbor)   </a:t>
            </a:r>
            <a:r>
              <a:rPr i="1">
                <a:solidFill>
                  <a:srgbClr val="60A0B0"/>
                </a:solidFill>
                <a:latin typeface="Courier"/>
              </a:rPr>
              <a:t># push the BETTER distance found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distances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a stable priority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StablePriorityQueue: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MinHeap()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._counter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tie-breaker, strictly increasing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priority, item):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._heap.insert((priority,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._counter, item))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._counter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pop(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priority, _, item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._heap.extract_min()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item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use: </a:t>
            </a:r>
            <a:r>
              <a:rPr>
                <a:latin typeface="Courier"/>
              </a:rPr>
              <a:t>asyncio</a:t>
            </a:r>
            <a:r>
              <a:rPr/>
              <a:t> and OS process scheduling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 — the max-heap trick, verified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trace the scheduler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summary for this lecture’s applications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Priority Queues at Work</dc:title>
  <dc:creator>Dr. Innocent Nyalala</dc:creator>
  <cp:keywords/>
  <dcterms:created xsi:type="dcterms:W3CDTF">2026-08-04T08:35:03Z</dcterms:created>
  <dcterms:modified xsi:type="dcterms:W3CDTF">2026-08-04T08:35:03Z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8, Lecture 3</vt:lpwstr>
  </property>
  <property fmtid="{D5CDD505-2E9C-101B-9397-08002B2CF9AE}" pid="10" name="toc-title">
    <vt:lpwstr>Table of contents</vt:lpwstr>
  </property>
</Properties>
</file>