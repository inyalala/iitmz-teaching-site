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Heaps: A Tree Shaped for Priority, Not Order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8,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hospital-triage-queue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heap property, contrasted with the BST property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array trick: no pointers at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MinHeap: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    </a:t>
            </a:r>
            <a:r>
              <a:rPr i="1">
                <a:solidFill>
                  <a:srgbClr val="60A0B0"/>
                </a:solidFill>
                <a:latin typeface="Courier"/>
              </a:rPr>
              <a:t># a PLAIN array — no TreeNode, no left/right pointers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_parent(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_left_child(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_right_child(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array-index formulas on a concrete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Array: [1, 3, 2, 7, 4, 5]
Index:  0  1  2  3  4  5
parent(3) = (3-1)//2 = 1   → arr[1]=3 is the parent of arr[3]=7. Check: 3&lt;=7 ✓
left_child(1) = 2*1+1 = 3  → arr[3]=7 is the left child of arr[1]=3 ✓
right_child(1) = 2*1+2 = 4 → arr[4]=4 is the right child of arr[1]=3. Check: 3&lt;=4 ✓
parent(0) = (0-1)//2 = -1//2 = -1  → index 0 (the root) has no parent, correctly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Insert: </a:t>
            </a:r>
            <a:r>
              <a:rPr>
                <a:latin typeface="Courier"/>
              </a:rPr>
              <a:t>heapify_up</a:t>
            </a:r>
            <a:r>
              <a:rPr/>
              <a:t>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insert(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.data.append(value)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add at the very end (next open leaf position)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._heapify_up(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_heapify_up(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i):</a:t>
            </a:r>
            <a:br/>
            <a:r>
              <a:rPr>
                <a:latin typeface="Courier"/>
              </a:rPr>
              <a:t>    parent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._parent(i)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.data[i]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.data[parent]: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.data[i],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.data[parent]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.data[parent],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.data[i]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._heapify_up(parent)          </a:t>
            </a:r>
            <a:r>
              <a:rPr i="1">
                <a:solidFill>
                  <a:srgbClr val="60A0B0"/>
                </a:solidFill>
                <a:latin typeface="Courier"/>
              </a:rPr>
              <a:t># continue checking further up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heapify_up completely, inserting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[1, 3, 2, 7, 4, 5]      insert(0)
Step 1: append 0 → [1, 3, 2, 7, 4, 5, 0],  i=6
Step 2: parent(6) = (6-1)//2 = 2.  arr[6]=0 &lt; arr[2]=2 → swap
        → [1, 3, 0, 7, 4, 5, 2],  i=2
Step 3: parent(2) = (2-1)//2 = 0.  arr[2]=0 &lt; arr[0]=1 → swap
        → [0, 3, 1, 7, 4, 5, 2],  i=0
Step 4: i=0 is the root → stop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Extract-min: </a:t>
            </a:r>
            <a:r>
              <a:rPr>
                <a:latin typeface="Courier"/>
              </a:rPr>
              <a:t>heapify_down</a:t>
            </a:r>
            <a:r>
              <a:rPr/>
              <a:t>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extract_min(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min_value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last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.data.pop()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remove the LAST element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last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move it to the root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._heapify_down(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min_value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_heapify_down(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i):</a:t>
            </a:r>
            <a:br/>
            <a:r>
              <a:rPr>
                <a:latin typeface="Courier"/>
              </a:rPr>
              <a:t>    smallest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child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._left_child(i),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._right_child(i)):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child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.data[child]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.data[smallest]:</a:t>
            </a:r>
            <a:br/>
            <a:r>
              <a:rPr>
                <a:latin typeface="Courier"/>
              </a:rPr>
              <a:t>            smallest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child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smallest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i: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.data[i],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.data[smallest]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.data[smallest],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.data[i]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._heapify_down(smallest)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extract_min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[0, 3, 1, 7, 4, 5, 2]        extract_min()
Step 1: min_value = 0. pop last (2) → data=[0,3,1,7,4,5]. Move 2 to root:
        [2, 3, 1, 7, 4, 5],  i=0
Step 2: left_child(0)=1 (val 3), right_child(0)=2 (val 1). smallest of {2,3,1} is 1, at index 2 → swap
        [1, 3, 2, 7, 4, 5],  i=2
Step 3: left_child(2)=5 (val 5), right_child(2)=6 (out of bounds, len=6). smallest of {2,5} is 2 → no swap needed, i already holds the smallest
Result: [1, 3, 2, 7, 4, 5],  returned min_value = 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bubbling up vs. bubbling down</a:t>
            </a:r>
          </a:p>
        </p:txBody>
      </p:sp>
      <p:pic>
        <p:nvPicPr>
          <p:cNvPr descr="figures/heap-bubbl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O(1) minimum, but O(n) for anything else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</a:t>
            </a:r>
            <a:r>
              <a:rPr>
                <a:latin typeface="Courier"/>
              </a:rPr>
              <a:t>heapify</a:t>
            </a:r>
            <a:r>
              <a:rPr/>
              <a:t>: building a heap in O(n)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heapify(arr):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     </a:t>
            </a:r>
            <a:r>
              <a:rPr i="1">
                <a:solidFill>
                  <a:srgbClr val="60A0B0"/>
                </a:solidFill>
                <a:latin typeface="Courier"/>
              </a:rPr>
              <a:t># start from the last NON-leaf node, go backward</a:t>
            </a:r>
            <a:br/>
            <a:r>
              <a:rPr>
                <a:latin typeface="Courier"/>
              </a:rPr>
              <a:t>        _heapify_down_arr(arr, n, i)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back: the leaderboard case study, resolved differently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Heapsort: a sorting algorithm, for free (again)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 this a valid heap?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inserting into a smaller heap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Heaps: A Tree Shaped for Priority, Not Order</dc:title>
  <dc:creator>Dr. Innocent Nyalala</dc:creator>
  <cp:keywords/>
  <dcterms:created xsi:type="dcterms:W3CDTF">2026-08-04T08:30:19Z</dcterms:created>
  <dcterms:modified xsi:type="dcterms:W3CDTF">2026-08-04T08:30:19Z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8, Lecture 2</vt:lpwstr>
  </property>
  <property fmtid="{D5CDD505-2E9C-101B-9397-08002B2CF9AE}" pid="10" name="toc-title">
    <vt:lpwstr>Table of contents</vt:lpwstr>
  </property>
</Properties>
</file>