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Merge Sort: Divide, Conquer, Combine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6, Lecture 1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two-pile-of-sorted-cards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Divide and conquer, defined precisely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merge step, in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merge(left, right):</a:t>
            </a:r>
            <a:br/>
            <a:r>
              <a:rPr>
                <a:latin typeface="Courier"/>
              </a:rPr>
              <a:t>    result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r>
              <a:rPr>
                <a:latin typeface="Courier"/>
              </a:rPr>
              <a:t>    i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j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i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(left)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j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(right):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left[i] </a:t>
            </a:r>
            <a:r>
              <a:rPr>
                <a:solidFill>
                  <a:srgbClr val="666666"/>
                </a:solidFill>
                <a:latin typeface="Courier"/>
              </a:rPr>
              <a:t>&lt;=</a:t>
            </a:r>
            <a:r>
              <a:rPr>
                <a:latin typeface="Courier"/>
              </a:rPr>
              <a:t> right[j]:</a:t>
            </a:r>
            <a:br/>
            <a:r>
              <a:rPr>
                <a:latin typeface="Courier"/>
              </a:rPr>
              <a:t>            result.append(left[i])</a:t>
            </a:r>
            <a:br/>
            <a:r>
              <a:rPr>
                <a:latin typeface="Courier"/>
              </a:rPr>
              <a:t>            i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    result.append(right[j])</a:t>
            </a:r>
            <a:br/>
            <a:r>
              <a:rPr>
                <a:latin typeface="Courier"/>
              </a:rPr>
              <a:t>            j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    result.extend(left[i:])     </a:t>
            </a:r>
            <a:r>
              <a:rPr i="1">
                <a:solidFill>
                  <a:srgbClr val="60A0B0"/>
                </a:solidFill>
                <a:latin typeface="Courier"/>
              </a:rPr>
              <a:t># append whatever remains of 'left', if any</a:t>
            </a:r>
            <a:br/>
            <a:r>
              <a:rPr>
                <a:latin typeface="Courier"/>
              </a:rPr>
              <a:t>    result.extend(right[j:])    </a:t>
            </a:r>
            <a:r>
              <a:rPr i="1">
                <a:solidFill>
                  <a:srgbClr val="60A0B0"/>
                </a:solidFill>
                <a:latin typeface="Courier"/>
              </a:rPr>
              <a:t># append whatever remains of 'right', if any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result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the merge step on two sorted halves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left = [2, 5, 8], right = [1, 3, 9]
i=0,j=0: left[0]=2 vs right[0]=1 → 1 smaller → result=[1], j=1
i=0,j=1: left[0]=2 vs right[1]=3 → 2 smaller → result=[1,2], i=1
i=1,j=1: left[1]=5 vs right[1]=3 → 3 smaller → result=[1,2,3], j=2
i=1,j=2: left[1]=5 vs right[2]=9 → 5 smaller → result=[1,2,3,5], i=2
i=2,j=2: left[2]=8 vs right[2]=9 → 8 smaller → result=[1,2,3,5,8], i=3
i=3: left exhausted → append right[2:] = [9] → result=[1,2,3,5,8,9]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Merge sort itself, in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merge_sort(arr):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(arr) </a:t>
            </a:r>
            <a:r>
              <a:rPr>
                <a:solidFill>
                  <a:srgbClr val="666666"/>
                </a:solidFill>
                <a:latin typeface="Courier"/>
              </a:rPr>
              <a:t>&lt;=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arr 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base case: 0 or 1 elements, already sorted</a:t>
            </a:r>
            <a:br/>
            <a:r>
              <a:rPr>
                <a:latin typeface="Courier"/>
              </a:rPr>
              <a:t>    mid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(arr) </a:t>
            </a:r>
            <a:r>
              <a:rPr>
                <a:solidFill>
                  <a:srgbClr val="666666"/>
                </a:solidFill>
                <a:latin typeface="Courier"/>
              </a:rPr>
              <a:t>//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br/>
            <a:r>
              <a:rPr>
                <a:latin typeface="Courier"/>
              </a:rPr>
              <a:t>    left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merge_sort(arr[:mid])      </a:t>
            </a:r>
            <a:r>
              <a:rPr i="1">
                <a:solidFill>
                  <a:srgbClr val="60A0B0"/>
                </a:solidFill>
                <a:latin typeface="Courier"/>
              </a:rPr>
              <a:t># recursively sort the left half</a:t>
            </a:r>
            <a:br/>
            <a:r>
              <a:rPr>
                <a:latin typeface="Courier"/>
              </a:rPr>
              <a:t>    right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merge_sort(arr[mid:])     </a:t>
            </a:r>
            <a:r>
              <a:rPr i="1">
                <a:solidFill>
                  <a:srgbClr val="60A0B0"/>
                </a:solidFill>
                <a:latin typeface="Courier"/>
              </a:rPr>
              <a:t># recursively sort the right half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merge(left, right)         </a:t>
            </a:r>
            <a:r>
              <a:rPr i="1">
                <a:solidFill>
                  <a:srgbClr val="60A0B0"/>
                </a:solidFill>
                <a:latin typeface="Courier"/>
              </a:rPr>
              <a:t># combine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merge sort’s full recursion on 8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merge_sort([8,3,5,1,9,2,7,4])
├── merge_sort([8,3,5,1])
│   ├── merge_sort([8,3]) → merge_sort([8]),merge_sort([3]) → merge([8],[3]) = [3,8]
│   └── merge_sort([5,1]) → merge_sort([5]),merge_sort([1]) → merge([5],[1]) = [1,5]
│   → merge([3,8],[1,5]) = [1,3,5,8]
├── merge_sort([9,2,7,4])
│   ├── merge_sort([9,2]) → merge([9],[2]) = [2,9]
│   └── merge_sort([7,4]) → merge([7],[4]) = [4,7]
│   → merge([2,9],[4,7]) = [2,4,7,9]
→ merge([1,3,5,8],[2,4,7,9]) = [1,2,3,4,5,7,8,9]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the recursion tree</a:t>
            </a:r>
          </a:p>
        </p:txBody>
      </p:sp>
      <p:pic>
        <p:nvPicPr>
          <p:cNvPr descr="figures/merge-sort-tree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8800" y="1193800"/>
            <a:ext cx="8026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Why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Θ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r>
                      <m:rPr>
                        <m:sty m:val="p"/>
                      </m:rPr>
                      <m:t>log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: the recursion tree argument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merge sort is stable, revisited concretely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Space cost: merge sort is not free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bottom-up (iterative) merge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merge_sort_iterative(arr):</a:t>
            </a:r>
            <a:br/>
            <a:r>
              <a:rPr>
                <a:latin typeface="Courier"/>
              </a:rPr>
              <a:t>    arr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arr[:]</a:t>
            </a:r>
            <a:br/>
            <a:r>
              <a:rPr>
                <a:latin typeface="Courier"/>
              </a:rPr>
              <a:t>    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(arr)</a:t>
            </a:r>
            <a:br/>
            <a:r>
              <a:rPr>
                <a:latin typeface="Courier"/>
              </a:rPr>
              <a:t>    width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width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n: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n,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width):</a:t>
            </a:r>
            <a:br/>
            <a:r>
              <a:rPr>
                <a:latin typeface="Courier"/>
              </a:rPr>
              <a:t>            left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arr[i:i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width]</a:t>
            </a:r>
            <a:br/>
            <a:r>
              <a:rPr>
                <a:latin typeface="Courier"/>
              </a:rPr>
              <a:t>            right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arr[i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width:i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width]</a:t>
            </a:r>
            <a:br/>
            <a:r>
              <a:rPr>
                <a:latin typeface="Courier"/>
              </a:rPr>
              <a:t>            arr[i:i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(left)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(right)]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merge(left, right)</a:t>
            </a:r>
            <a:br/>
            <a:r>
              <a:rPr>
                <a:latin typeface="Courier"/>
              </a:rPr>
              <a:t>        width </a:t>
            </a:r>
            <a:r>
              <a:rPr>
                <a:solidFill>
                  <a:srgbClr val="666666"/>
                </a:solidFill>
                <a:latin typeface="Courier"/>
              </a:rPr>
              <a:t>*=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arr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second worked trace — 6 elements, uneven split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Recurrence relations: the formal version of the tree argument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where does the cost come from?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Real-world use of merge sort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Merge Sort: Divide, Conquer, Combine</dc:title>
  <dc:creator>Dr. Innocent Nyalala</dc:creator>
  <cp:keywords/>
  <dcterms:created xsi:type="dcterms:W3CDTF">2026-08-04T07:01:21Z</dcterms:created>
  <dcterms:modified xsi:type="dcterms:W3CDTF">2026-08-04T07:01:21Z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6, Lecture 1</vt:lpwstr>
  </property>
  <property fmtid="{D5CDD505-2E9C-101B-9397-08002B2CF9AE}" pid="10" name="toc-title">
    <vt:lpwstr>Table of contents</vt:lpwstr>
  </property>
</Properties>
</file>