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Circular Linked Lists and the Josephus Problem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4, Lecture 3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seated-in-a-ring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makes a linked list circular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Node: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value):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value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Building a 3-node RING instead of a line:</a:t>
            </a:r>
            <a:br/>
            <a:r>
              <a:rPr>
                <a:latin typeface="Courier"/>
              </a:rPr>
              <a:t>a, b, 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), Node(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), Node(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a.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</a:t>
            </a:r>
            <a:br/>
            <a:r>
              <a:rPr>
                <a:latin typeface="Courier"/>
              </a:rPr>
              <a:t>b.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</a:t>
            </a:r>
            <a:br/>
            <a:r>
              <a:rPr>
                <a:latin typeface="Courier"/>
              </a:rPr>
              <a:t>c.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          </a:t>
            </a:r>
            <a:r>
              <a:rPr i="1">
                <a:solidFill>
                  <a:srgbClr val="60A0B0"/>
                </a:solidFill>
                <a:latin typeface="Courier"/>
              </a:rPr>
              <a:t># &lt;-- the only difference: points back to 'a', not None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traversal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THIS WILL NEVER TERMINATE on a circular list:</a:t>
            </a:r>
            <a:br/>
            <a:r>
              <a:rPr>
                <a:latin typeface="Courier"/>
              </a:rPr>
              <a:t>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current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      </a:t>
            </a:r>
            <a:r>
              <a:rPr i="1">
                <a:solidFill>
                  <a:srgbClr val="60A0B0"/>
                </a:solidFill>
                <a:latin typeface="Courier"/>
              </a:rPr>
              <a:t># 'current' is NEVER None in a ring!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(current.value)</a:t>
            </a:r>
            <a:br/>
            <a:r>
              <a:rPr>
                <a:latin typeface="Courier"/>
              </a:rPr>
              <a:t>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fix: traverse by count, or stop at a known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traverse_once(start_node, n):</a:t>
            </a:r>
            <a:br/>
            <a:r>
              <a:rPr>
                <a:latin typeface="Courier"/>
              </a:rPr>
              <a:t>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start_node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_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(n):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loop exactly n times, not "until None"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(current.value)</a:t>
            </a:r>
            <a:br/>
            <a:r>
              <a:rPr>
                <a:latin typeface="Courier"/>
              </a:rPr>
              <a:t>    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Building </a:t>
            </a:r>
            <a:r>
              <a:rPr>
                <a:latin typeface="Courier"/>
              </a:rPr>
              <a:t>CircularLinkedList</a:t>
            </a:r>
            <a:r>
              <a:rPr/>
              <a:t> from scratch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CircularLinkedList: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._size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insert(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value):</a:t>
            </a:r>
            <a:br/>
            <a:r>
              <a:rPr>
                <a:latin typeface="Courier"/>
              </a:rPr>
              <a:t>        new_node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Node(value)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new_node.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new_node        </a:t>
            </a:r>
            <a:r>
              <a:rPr i="1">
                <a:solidFill>
                  <a:srgbClr val="60A0B0"/>
                </a:solidFill>
                <a:latin typeface="Courier"/>
              </a:rPr>
              <a:t># points to itself: a ring of one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new_node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.head:   </a:t>
            </a:r>
            <a:r>
              <a:rPr i="1">
                <a:solidFill>
                  <a:srgbClr val="60A0B0"/>
                </a:solidFill>
                <a:latin typeface="Courier"/>
              </a:rPr>
              <a:t># find the LAST node (points back to head)</a:t>
            </a:r>
            <a:br/>
            <a:r>
              <a:rPr>
                <a:latin typeface="Courier"/>
              </a:rPr>
              <a:t>            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br/>
            <a:r>
              <a:rPr>
                <a:latin typeface="Courier"/>
              </a:rPr>
              <a:t>           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new_node</a:t>
            </a:r>
            <a:br/>
            <a:r>
              <a:rPr>
                <a:latin typeface="Courier"/>
              </a:rPr>
              <a:t>            new_node.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._size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</a:t>
            </a:r>
            <a:r>
              <a:rPr>
                <a:latin typeface="Courier"/>
              </a:rPr>
              <a:t>insert</a:t>
            </a:r>
            <a:r>
              <a:rPr/>
              <a:t> on an empty list, then again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insert(1):  head is None → new_node(1).next = itself → head = node(1)
            Ring: [1] → (back to 1)
insert(2):  head is node(1). current = node(1). current.next IS head (itself) → stop here
            current.next = new_node(2);  new_node(2).next = head
            Ring: [1] → [2] → (back to 1)
insert(3):  current starts at node(1). node(1).next is node(2), not head → current = node(2)
            node(2).next IS head → stop here
            node(2).next = new_node(3);  new_node(3).next = head
            Ring: [1] → [2] → [3] → (back to 1)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Josephus problem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Solving Josephus with a circular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josephus(n, k):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build a ring of n people, numbered 1..n</a:t>
            </a:r>
            <a:br/>
            <a:r>
              <a:rPr>
                <a:latin typeface="Courier"/>
              </a:rPr>
              <a:t>    head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head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n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Node(i)</a:t>
            </a:r>
            <a:br/>
            <a:r>
              <a:rPr>
                <a:latin typeface="Courier"/>
              </a:rPr>
              <a:t>    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br/>
            <a:r>
              <a:rPr>
                <a:latin typeface="Courier"/>
              </a:rPr>
              <a:t>   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head          </a:t>
            </a:r>
            <a:r>
              <a:rPr i="1">
                <a:solidFill>
                  <a:srgbClr val="60A0B0"/>
                </a:solidFill>
                <a:latin typeface="Courier"/>
              </a:rPr>
              <a:t># close the ring</a:t>
            </a:r>
            <a:br/>
            <a:br/>
            <a:r>
              <a:rPr>
                <a:latin typeface="Courier"/>
              </a:rPr>
              <a:t>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head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current:      </a:t>
            </a:r>
            <a:r>
              <a:rPr i="1">
                <a:solidFill>
                  <a:srgbClr val="60A0B0"/>
                </a:solidFill>
                <a:latin typeface="Courier"/>
              </a:rPr>
              <a:t># more than one person remains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_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(k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"eliminated:"</a:t>
            </a:r>
            <a:r>
              <a:rPr>
                <a:latin typeface="Courier"/>
              </a:rPr>
              <a:t>,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.value)</a:t>
            </a:r>
            <a:br/>
            <a:r>
              <a:rPr>
                <a:latin typeface="Courier"/>
              </a:rPr>
              <a:t>       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    </a:t>
            </a:r>
            <a:r>
              <a:rPr i="1">
                <a:solidFill>
                  <a:srgbClr val="60A0B0"/>
                </a:solidFill>
                <a:latin typeface="Courier"/>
              </a:rPr>
              <a:t># unlink the k-th person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current.value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the sole survivor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Josephus for n=5, k=2, completely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Ring: 1 → 2 → 3 → 4 → 5 → (back to 1).  current starts at 1.
Round 1: advance k-1=1 step: current=2. Eliminate current.next=3. Ring: 1→2→4→5→1
Round 2: advance 1 step from 2: current=4. Eliminate current.next=5. Ring: 1→2→4→1
Round 3: advance 1 step from 4: current=1. Eliminate current.next=2. Ring: 1→4→1
Round 4: advance 1 step from 1: current=4. Eliminate current.next=1. Ring: 4→4 (self)
Survivor: 4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elimination around the ring</a:t>
            </a:r>
          </a:p>
        </p:txBody>
      </p:sp>
      <p:pic>
        <p:nvPicPr>
          <p:cNvPr descr="figures/josephus-ring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Circular linked list vs. Week 3’s circular buffer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round-robin CPU scheduling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trace — n=6, k=3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of the Josephus solution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spot the bug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Circular Linked Lists and the Josephus Problem</dc:title>
  <dc:creator>Dr. Innocent Nyalala</dc:creator>
  <cp:keywords/>
  <dcterms:created xsi:type="dcterms:W3CDTF">2026-08-04T06:37:54Z</dcterms:created>
  <dcterms:modified xsi:type="dcterms:W3CDTF">2026-08-04T06:37:54Z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4, Lecture 3</vt:lpwstr>
  </property>
  <property fmtid="{D5CDD505-2E9C-101B-9397-08002B2CF9AE}" pid="10" name="toc-title">
    <vt:lpwstr>Table of contents</vt:lpwstr>
  </property>
</Properties>
</file>