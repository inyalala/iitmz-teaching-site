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Choosing Between Arrays and Linked Lists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4, Lecture 4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librarian analogy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complete decision table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“linked lists are slower” misses real cases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worked cost estimate: 10,000 front-insertions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Application: sparse polynomials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Sparse polynomial, in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Term: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__init__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coeff, exponent):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.coeff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coeff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.exponent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exponent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Polynomial: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__init__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.head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terms kept in decreasing order of exponent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add_term(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coeff, exponent):</a:t>
            </a:r>
            <a:br/>
            <a:r>
              <a:rPr>
                <a:latin typeface="Courier"/>
              </a:rPr>
              <a:t>        new_term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Term(coeff, exponent)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.head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or</a:t>
            </a:r>
            <a:r>
              <a:rPr>
                <a:latin typeface="Courier"/>
              </a:rPr>
              <a:t> exponent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.head.exponent:</a:t>
            </a:r>
            <a:br/>
            <a:r>
              <a:rPr>
                <a:latin typeface="Courier"/>
              </a:rPr>
              <a:t>            new_term.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.head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.head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new_term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br/>
            <a:r>
              <a:rPr>
                <a:latin typeface="Courier"/>
              </a:rPr>
              <a:t>        current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.head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current.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and</a:t>
            </a:r>
            <a:r>
              <a:rPr>
                <a:latin typeface="Courier"/>
              </a:rPr>
              <a:t> current.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r>
              <a:rPr>
                <a:latin typeface="Courier"/>
              </a:rPr>
              <a:t>.exponent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exponent:</a:t>
            </a:r>
            <a:br/>
            <a:r>
              <a:rPr>
                <a:latin typeface="Courier"/>
              </a:rPr>
              <a:t>            current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current.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br/>
            <a:r>
              <a:rPr>
                <a:latin typeface="Courier"/>
              </a:rPr>
              <a:t>        new_term.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current.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br/>
            <a:r>
              <a:rPr>
                <a:latin typeface="Courier"/>
              </a:rPr>
              <a:t>        current.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new_term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Tracing polynomial construction for </a:t>
                </a:r>
                <a14:m>
                  <m:oMath xmlns:m="http://schemas.openxmlformats.org/officeDocument/2006/math">
                    <m:sSup>
                      <m:e>
                        <m:r>
                          <m:t>x</m:t>
                        </m:r>
                      </m:e>
                      <m:sup>
                        <m:r>
                          <m:t>1000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3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</m:oMath>
                </a14:m>
              </a:p>
            </p:txBody>
          </p:sp>
        </mc:Choice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add_term(1, 1000):   head is None → head = [1x^1000]
add_term(3, 2):       2 &lt; 1000 → traverse: current=[1x^1000], current.next is None → insert after
                       Ring: [1x^1000] → [3x^2]
add_term(1, 0):       0 &lt; 2 → traverse: current=[3x^2], current.next is None → insert after
                       Chain: [1x^1000] → [3x^2] → [1x^0]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picture: two workloads, two winning structures</a:t>
            </a:r>
          </a:p>
        </p:txBody>
      </p:sp>
      <p:pic>
        <p:nvPicPr>
          <p:cNvPr descr="figures/array-vs-linked-decision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62000" y="1193800"/>
            <a:ext cx="7632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Application: a simplified LRU cache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LRU cache, sketched in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LRUCache: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__init__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capacity):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.capacity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capacity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</a:t>
            </a:r>
            <a:r>
              <a:rPr>
                <a:solidFill>
                  <a:srgbClr val="008000"/>
                </a:solidFill>
                <a:latin typeface="Courier"/>
              </a:rPr>
              <a:t>list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DoublyLinkedList()      </a:t>
            </a:r>
            <a:r>
              <a:rPr i="1">
                <a:solidFill>
                  <a:srgbClr val="60A0B0"/>
                </a:solidFill>
                <a:latin typeface="Courier"/>
              </a:rPr>
              <a:t># Lecture 2's structure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.node_map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{} 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key -&gt; node, for O(1) lookup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access(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key):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key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.node_map:</a:t>
            </a:r>
            <a:br/>
            <a:r>
              <a:rPr>
                <a:latin typeface="Courier"/>
              </a:rPr>
              <a:t>            node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.node_map[key]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</a:t>
            </a:r>
            <a:r>
              <a:rPr>
                <a:solidFill>
                  <a:srgbClr val="008000"/>
                </a:solidFill>
                <a:latin typeface="Courier"/>
              </a:rPr>
              <a:t>list</a:t>
            </a:r>
            <a:r>
              <a:rPr>
                <a:latin typeface="Courier"/>
              </a:rPr>
              <a:t>.remove_node(node)      </a:t>
            </a:r>
            <a:r>
              <a:rPr i="1">
                <a:solidFill>
                  <a:srgbClr val="60A0B0"/>
                </a:solidFill>
                <a:latin typeface="Courier"/>
              </a:rPr>
              <a:t># Lecture 2: O(1), given the reference</a:t>
            </a:r>
            <a:br/>
            <a:r>
              <a:rPr>
                <a:latin typeface="Courier"/>
              </a:rPr>
              <a:t>        new_node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</a:t>
            </a:r>
            <a:r>
              <a:rPr>
                <a:solidFill>
                  <a:srgbClr val="008000"/>
                </a:solidFill>
                <a:latin typeface="Courier"/>
              </a:rPr>
              <a:t>list</a:t>
            </a:r>
            <a:r>
              <a:rPr>
                <a:latin typeface="Courier"/>
              </a:rPr>
              <a:t>.push_back_node(key)   </a:t>
            </a:r>
            <a:r>
              <a:rPr i="1">
                <a:solidFill>
                  <a:srgbClr val="60A0B0"/>
                </a:solidFill>
                <a:latin typeface="Courier"/>
              </a:rPr>
              <a:t># re-insert at the "recent" end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.node_map[key]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new_node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</a:t>
            </a:r>
            <a:r>
              <a:rPr>
                <a:solidFill>
                  <a:srgbClr val="008000"/>
                </a:solidFill>
                <a:latin typeface="Courier"/>
              </a:rPr>
              <a:t>list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.capacity:</a:t>
            </a:r>
            <a:br/>
            <a:r>
              <a:rPr>
                <a:latin typeface="Courier"/>
              </a:rPr>
              <a:t>            evicted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</a:t>
            </a:r>
            <a:r>
              <a:rPr>
                <a:solidFill>
                  <a:srgbClr val="008000"/>
                </a:solidFill>
                <a:latin typeface="Courier"/>
              </a:rPr>
              <a:t>list</a:t>
            </a:r>
            <a:r>
              <a:rPr>
                <a:latin typeface="Courier"/>
              </a:rPr>
              <a:t>.head          </a:t>
            </a:r>
            <a:r>
              <a:rPr i="1">
                <a:solidFill>
                  <a:srgbClr val="60A0B0"/>
                </a:solidFill>
                <a:latin typeface="Courier"/>
              </a:rPr>
              <a:t># Lecture 2: head is "least recent"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</a:t>
            </a:r>
            <a:r>
              <a:rPr>
                <a:solidFill>
                  <a:srgbClr val="008000"/>
                </a:solidFill>
                <a:latin typeface="Courier"/>
              </a:rPr>
              <a:t>list</a:t>
            </a:r>
            <a:r>
              <a:rPr>
                <a:latin typeface="Courier"/>
              </a:rPr>
              <a:t>.remove_node(evicted)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del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.node_map[evicted.value]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the LRU cache on a real sequence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skip lists, a preview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4 in one table: what each lecture added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note on premature optimization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choose the structure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Choosing Between Arrays and Linked Lists</dc:title>
  <dc:creator>Dr. Innocent Nyalala</dc:creator>
  <cp:keywords/>
  <dcterms:created xsi:type="dcterms:W3CDTF">2026-08-04T06:34:31Z</dcterms:created>
  <dcterms:modified xsi:type="dcterms:W3CDTF">2026-08-04T06:34:31Z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4, Lecture 4</vt:lpwstr>
  </property>
  <property fmtid="{D5CDD505-2E9C-101B-9397-08002B2CF9AE}" pid="10" name="toc-title">
    <vt:lpwstr>Table of contents</vt:lpwstr>
  </property>
</Properties>
</file>