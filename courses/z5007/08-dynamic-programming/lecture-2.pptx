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Tabulation and the 0/1 Knapsack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9, Lecture 2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bottom-up-versus-top-down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Tabulation: Fibonacci, rebuilt bottom-up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fib_tabulated(n):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</a:t>
            </a:r>
            <a:br/>
            <a:r>
              <a:rPr>
                <a:latin typeface="Courier"/>
              </a:rPr>
              <a:t>    table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(n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table[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n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table[i]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table[i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table[i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table[n]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0/1 knapsack problem, stated precisely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naive recursion applies here, and why it is slow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knapsack_naive(weights, values, n, W):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or</a:t>
            </a:r>
            <a:r>
              <a:rPr>
                <a:latin typeface="Courier"/>
              </a:rPr>
              <a:t> W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weights[n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W: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knapsack_naive(weights, values, 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W)     </a:t>
            </a:r>
            <a:r>
              <a:rPr i="1">
                <a:solidFill>
                  <a:srgbClr val="60A0B0"/>
                </a:solidFill>
                <a:latin typeface="Courier"/>
              </a:rPr>
              <a:t># can't include item n-1</a:t>
            </a:r>
            <a:br/>
            <a:r>
              <a:rPr>
                <a:latin typeface="Courier"/>
              </a:rPr>
              <a:t>    include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values[n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knapsack_naive(weights, values, 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W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weights[n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exclude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knapsack_naive(weights, values, 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W)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(include, exclude)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recursion tree with genuinely overlapping (n, W) pairs</a:t>
            </a:r>
          </a:p>
        </p:txBody>
      </p:sp>
      <p:pic>
        <p:nvPicPr>
          <p:cNvPr descr="figures/knapsack-overlap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46200"/>
            <a:ext cx="8229600" cy="308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Optimal substructure, verified explicitly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Building the DP table, completely, by hand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Filling one cell, traced in complete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Filling table[items 1-2][W=4]:
  Item 2: weight=3, value=20. Current W=4 &gt;= weight 3, so item 2 CAN fit.
  Option A (exclude item 2): table[item 1][W=4] = 15
  Option B (include item 2): value 20 + table[item 1][W=4-3=1] = 20 + 15 = 35
  max(15, 35) = 35 → table[items 1-2][W=4] = 35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Reconstructing the chosen items, not just the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reconstruct(table, weights, values, n, W):</a:t>
            </a:r>
            <a:br/>
            <a:r>
              <a:rPr>
                <a:latin typeface="Courier"/>
              </a:rPr>
              <a:t>    chosen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(n,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table[i][W]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table[i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][W]:     </a:t>
            </a:r>
            <a:r>
              <a:rPr i="1">
                <a:solidFill>
                  <a:srgbClr val="60A0B0"/>
                </a:solidFill>
                <a:latin typeface="Courier"/>
              </a:rPr>
              <a:t># value CHANGED → item i was included</a:t>
            </a:r>
            <a:br/>
            <a:r>
              <a:rPr>
                <a:latin typeface="Courier"/>
              </a:rPr>
              <a:t>            chosen.append(i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record it (0-indexed)</a:t>
            </a:r>
            <a:br/>
            <a:r>
              <a:rPr>
                <a:latin typeface="Courier"/>
              </a:rPr>
              <a:t>            W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weights[i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reduce remaining capacity accordingly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chosen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reconstruction on this lecture’s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table[3][4]=35, table[2][4]=35 → SAME → item 3 excluded
table[2][4]=35, table[1][4]=15 → DIFFERENT → item 2 INCLUDED. W = 4-3 = 1
table[1][1]=15, table[0][1]=0 → DIFFERENT → item 1 INCLUDED. W = 1-1 = 0
Chosen items: item 2, item 1 → total value 20+15=35, total weight 3+1=4 ✓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space optimization: O(nW) to O(W)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knapsack_optimized(weights, values, n, W):</a:t>
            </a:r>
            <a:br/>
            <a:r>
              <a:rPr>
                <a:latin typeface="Courier"/>
              </a:rPr>
              <a:t>    table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(W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(n):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w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(W, weights[i]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):     </a:t>
            </a:r>
            <a:r>
              <a:rPr i="1">
                <a:solidFill>
                  <a:srgbClr val="60A0B0"/>
                </a:solidFill>
                <a:latin typeface="Courier"/>
              </a:rPr>
              <a:t># iterate BACKWARD</a:t>
            </a:r>
            <a:br/>
            <a:r>
              <a:rPr>
                <a:latin typeface="Courier"/>
              </a:rPr>
              <a:t>            table[w]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max</a:t>
            </a:r>
            <a:r>
              <a:rPr>
                <a:latin typeface="Courier"/>
              </a:rPr>
              <a:t>(table[w], values[i]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table[w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weights[i]])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table[W]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the full DP solution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“Pseudo-polynomial”: a term worth knowing precisely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identify the recurrence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check: verifying the naive recursion is genuinely correct first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Tabulation and the 0/1 Knapsack Problem</dc:title>
  <dc:creator>Dr. Innocent Nyalala</dc:creator>
  <cp:keywords/>
  <dcterms:created xsi:type="dcterms:W3CDTF">2026-08-04T14:10:38Z</dcterms:created>
  <dcterms:modified xsi:type="dcterms:W3CDTF">2026-08-04T14:10:38Z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9, Lecture 2</vt:lpwstr>
  </property>
  <property fmtid="{D5CDD505-2E9C-101B-9397-08002B2CF9AE}" pid="10" name="toc-title">
    <vt:lpwstr>Table of contents</vt:lpwstr>
  </property>
</Properties>
</file>