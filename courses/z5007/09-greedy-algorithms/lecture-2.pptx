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Huffman Coding: Greedy Compression, Proven Optimal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10,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Morse-code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Fixed-length codes and their waste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Prefix codes: the property that makes variable length work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Huffman tree: the greedy idea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tree using Week 8’s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heapq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build_huffman_tree(freqs):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freqs: dict of symbol -&gt; frequency</a:t>
            </a:r>
            <a:br/>
            <a:r>
              <a:rPr>
                <a:latin typeface="Courier"/>
              </a:rPr>
              <a:t>    heap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[[freq, [symbol,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]]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symbol, freq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freqs.items()]</a:t>
            </a:r>
            <a:br/>
            <a:r>
              <a:rPr>
                <a:latin typeface="Courier"/>
              </a:rPr>
              <a:t>    heapq.heapify(heap)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Week 8 Lecture 2's O(n) heapify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(heap)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lo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heapq.heappop(heap)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least-frequent node</a:t>
            </a:r>
            <a:br/>
            <a:r>
              <a:rPr>
                <a:latin typeface="Courier"/>
              </a:rPr>
              <a:t>        hi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heapq.heappop(heap)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second-least-frequent node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pair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lo[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:]: pair[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'0'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pair[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 </a:t>
            </a:r>
            <a:r>
              <a:rPr i="1">
                <a:solidFill>
                  <a:srgbClr val="60A0B0"/>
                </a:solidFill>
                <a:latin typeface="Courier"/>
              </a:rPr>
              <a:t># prepend 0 to lo's codes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pair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hi[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:]: pair[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'1'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pair[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 </a:t>
            </a:r>
            <a:r>
              <a:rPr i="1">
                <a:solidFill>
                  <a:srgbClr val="60A0B0"/>
                </a:solidFill>
                <a:latin typeface="Courier"/>
              </a:rPr>
              <a:t># prepend 1 to hi's codes</a:t>
            </a:r>
            <a:br/>
            <a:r>
              <a:rPr>
                <a:latin typeface="Courier"/>
              </a:rPr>
              <a:t>        heapq.heappush(heap, [lo[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hi[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lo[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hi[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sorted</a:t>
            </a:r>
            <a:r>
              <a:rPr>
                <a:latin typeface="Courier"/>
              </a:rPr>
              <a:t>(heap[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:],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p: 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(p[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]), p))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Huffman tree construction,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Frequencies: A=45, B=13, C=12, D=16, E=14
Step 1: two smallest are C(12), B(13) → merge → new node BC(25)
Step 2: two smallest are E(14), D(16) → merge → new node DE(30)
Step 3: two smallest are BC(25), DE(30) → merge → new node BCDE(55)
Step 4: two smallest are A(45), BCDE(55) → merge → root(100)
Codes read off the tree:
  A: 0            (1 bit)
  B: 101          (3 bits, via A|BCDE -&gt; BC|DE -&gt; C|B)
  C: 100          (3 bits)
  D: 111          (3 bits, via BCDE -&gt; DE -&gt; D)
  E: 110          (3 bits)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codes off the tree, and computing the new total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completed Huffman tree</a:t>
            </a:r>
          </a:p>
        </p:txBody>
      </p:sp>
      <p:pic>
        <p:nvPicPr>
          <p:cNvPr descr="figures/huffman-tre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1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Encoding and decoding a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codes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"0"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"101"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"100"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"111"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"110"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message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"ABAC"</a:t>
            </a:r>
            <a:br/>
            <a:r>
              <a:rPr>
                <a:latin typeface="Courier"/>
              </a:rPr>
              <a:t>encoded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.join(codes[ch]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message)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(encoded)   </a:t>
            </a:r>
            <a:r>
              <a:rPr i="1">
                <a:solidFill>
                  <a:srgbClr val="60A0B0"/>
                </a:solidFill>
                <a:latin typeface="Courier"/>
              </a:rPr>
              <a:t># "0" + "101" + "0" + "100" = "01010100"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decode(bits, root_codes):</a:t>
            </a:r>
            <a:br/>
            <a:r>
              <a:rPr>
                <a:latin typeface="Courier"/>
              </a:rPr>
              <a:t>    reverse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{v: k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k, v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root_codes.items()}</a:t>
            </a:r>
            <a:br/>
            <a:r>
              <a:rPr>
                <a:latin typeface="Courier"/>
              </a:rPr>
              <a:t>    result,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bit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bits: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bit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current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reverse:</a:t>
            </a:r>
            <a:br/>
            <a:r>
              <a:rPr>
                <a:latin typeface="Courier"/>
              </a:rPr>
              <a:t>            result.append(reverse[current])</a:t>
            </a:r>
            <a:br/>
            <a:r>
              <a:rPr>
                <a:latin typeface="Courier"/>
              </a:rPr>
              <a:t>    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.join(result)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greedy works here: a different exchange argument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real-world use, and Huffman’s limits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decoder on the encoded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encoded = "01010100"
reverse = {"0":"A", "101":"B", "100":"C", "111":"D", "110":"E"}
bit '0': current="0" → in reverse! → output "A", reset current=""
bit '1': current="1" → not in reverse
bit '0': current="10" → not in reverse
bit '1': current="101" → in reverse! → output "B", reset current=""
bit '0': current="0" → in reverse! → output "A", reset current=""
bit '1': current="1" → not in reverse
bit '0': current="10" → not in reverse
bit '0': current="100" → in reverse! → output "C", reset current=""
Decoded: "ABAC" — matches the original message exactly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Connecting back: Huffman trees are binary trees (Week 7)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is this a valid prefix code?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Comparing Huffman coding directly against Lecture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Huffman Coding: Greedy Compression, Proven Optimal</dc:title>
  <dc:creator>Dr. Innocent Nyalala</dc:creator>
  <cp:keywords/>
  <dcterms:created xsi:type="dcterms:W3CDTF">2026-08-04T14:28:41Z</dcterms:created>
  <dcterms:modified xsi:type="dcterms:W3CDTF">2026-08-04T14:28:41Z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10, Lecture 2</vt:lpwstr>
  </property>
  <property fmtid="{D5CDD505-2E9C-101B-9397-08002B2CF9AE}" pid="10" name="toc-title">
    <vt:lpwstr>Table of contents</vt:lpwstr>
  </property>
</Properties>
</file>