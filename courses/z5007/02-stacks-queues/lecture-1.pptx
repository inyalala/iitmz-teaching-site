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svg" ContentType="image/svg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4" Type="http://schemas.openxmlformats.org/officeDocument/2006/relationships/viewProps" Target="viewProps.xml" /><Relationship Id="rId23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26" Type="http://schemas.openxmlformats.org/officeDocument/2006/relationships/tableStyles" Target="tableStyles.xml" /><Relationship Id="rId25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.svg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Stacks: Last In, First Out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Programming and Data Structures — Week 3, Lecture 1</a:t>
            </a:r>
            <a:br/>
            <a:br/>
            <a:r>
              <a:rPr/>
              <a:t>Dr. Innocent Nyalala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Objectives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Outline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plate-stacker analogy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Defining LIFO precisely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Other everyday LIFO examples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Building </a:t>
            </a:r>
            <a:r>
              <a:rPr>
                <a:latin typeface="Courier"/>
              </a:rPr>
              <a:t>Stack</a:t>
            </a:r>
            <a:r>
              <a:rPr/>
              <a:t> on Week 2’s dynamic array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 b="1">
                <a:solidFill>
                  <a:srgbClr val="007020"/>
                </a:solidFill>
                <a:latin typeface="Courier"/>
              </a:rPr>
              <a:t>class</a:t>
            </a:r>
            <a:r>
              <a:rPr>
                <a:latin typeface="Courier"/>
              </a:rPr>
              <a:t> Stack: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def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__init__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19177C"/>
                </a:solidFill>
                <a:latin typeface="Courier"/>
              </a:rPr>
              <a:t>self</a:t>
            </a:r>
            <a:r>
              <a:rPr>
                <a:latin typeface="Courier"/>
              </a:rPr>
              <a:t>):</a:t>
            </a:r>
            <a:br/>
            <a:r>
              <a:rPr>
                <a:latin typeface="Courier"/>
              </a:rPr>
              <a:t>        </a:t>
            </a:r>
            <a:r>
              <a:rPr>
                <a:solidFill>
                  <a:srgbClr val="19177C"/>
                </a:solidFill>
                <a:latin typeface="Courier"/>
              </a:rPr>
              <a:t>self</a:t>
            </a:r>
            <a:r>
              <a:rPr>
                <a:latin typeface="Courier"/>
              </a:rPr>
              <a:t>._items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[]          </a:t>
            </a:r>
            <a:r>
              <a:rPr i="1">
                <a:solidFill>
                  <a:srgbClr val="60A0B0"/>
                </a:solidFill>
                <a:latin typeface="Courier"/>
              </a:rPr>
              <a:t># Week 2's dynamic array, doubling under the hood</a:t>
            </a:r>
            <a:br/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def</a:t>
            </a:r>
            <a:r>
              <a:rPr>
                <a:latin typeface="Courier"/>
              </a:rPr>
              <a:t> push(</a:t>
            </a:r>
            <a:r>
              <a:rPr>
                <a:solidFill>
                  <a:srgbClr val="19177C"/>
                </a:solidFill>
                <a:latin typeface="Courier"/>
              </a:rPr>
              <a:t>self</a:t>
            </a:r>
            <a:r>
              <a:rPr>
                <a:latin typeface="Courier"/>
              </a:rPr>
              <a:t>, x):</a:t>
            </a:r>
            <a:br/>
            <a:r>
              <a:rPr>
                <a:latin typeface="Courier"/>
              </a:rPr>
              <a:t>        </a:t>
            </a:r>
            <a:r>
              <a:rPr>
                <a:solidFill>
                  <a:srgbClr val="19177C"/>
                </a:solidFill>
                <a:latin typeface="Courier"/>
              </a:rPr>
              <a:t>self</a:t>
            </a:r>
            <a:r>
              <a:rPr>
                <a:latin typeface="Courier"/>
              </a:rPr>
              <a:t>._items.append(x)      </a:t>
            </a:r>
            <a:r>
              <a:rPr i="1">
                <a:solidFill>
                  <a:srgbClr val="60A0B0"/>
                </a:solidFill>
                <a:latin typeface="Courier"/>
              </a:rPr>
              <a:t># Week 2 Lecture 2/3: amortized O(1)</a:t>
            </a:r>
            <a:br/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def</a:t>
            </a:r>
            <a:r>
              <a:rPr>
                <a:latin typeface="Courier"/>
              </a:rPr>
              <a:t> pop(</a:t>
            </a:r>
            <a:r>
              <a:rPr>
                <a:solidFill>
                  <a:srgbClr val="19177C"/>
                </a:solidFill>
                <a:latin typeface="Courier"/>
              </a:rPr>
              <a:t>self</a:t>
            </a:r>
            <a:r>
              <a:rPr>
                <a:latin typeface="Courier"/>
              </a:rPr>
              <a:t>):</a:t>
            </a:r>
            <a:br/>
            <a:r>
              <a:rPr>
                <a:latin typeface="Courier"/>
              </a:rPr>
              <a:t>        </a:t>
            </a:r>
            <a:r>
              <a:rPr b="1">
                <a:solidFill>
                  <a:srgbClr val="007020"/>
                </a:solidFill>
                <a:latin typeface="Courier"/>
              </a:rPr>
              <a:t>if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not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19177C"/>
                </a:solidFill>
                <a:latin typeface="Courier"/>
              </a:rPr>
              <a:t>self</a:t>
            </a:r>
            <a:r>
              <a:rPr>
                <a:latin typeface="Courier"/>
              </a:rPr>
              <a:t>._items:</a:t>
            </a:r>
            <a:br/>
            <a:r>
              <a:rPr>
                <a:latin typeface="Courier"/>
              </a:rPr>
              <a:t>            </a:t>
            </a:r>
            <a:r>
              <a:rPr b="1">
                <a:solidFill>
                  <a:srgbClr val="007020"/>
                </a:solidFill>
                <a:latin typeface="Courier"/>
              </a:rPr>
              <a:t>raise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BC7A00"/>
                </a:solidFill>
                <a:latin typeface="Courier"/>
              </a:rPr>
              <a:t>IndexError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"pop from an empty stack"</a:t>
            </a:r>
            <a:r>
              <a:rPr>
                <a:latin typeface="Courier"/>
              </a:rPr>
              <a:t>)</a:t>
            </a:r>
            <a:br/>
            <a:r>
              <a:rPr>
                <a:latin typeface="Courier"/>
              </a:rPr>
              <a:t>        </a:t>
            </a:r>
            <a:r>
              <a:rPr b="1">
                <a:solidFill>
                  <a:srgbClr val="007020"/>
                </a:solidFill>
                <a:latin typeface="Courier"/>
              </a:rPr>
              <a:t>return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19177C"/>
                </a:solidFill>
                <a:latin typeface="Courier"/>
              </a:rPr>
              <a:t>self</a:t>
            </a:r>
            <a:r>
              <a:rPr>
                <a:latin typeface="Courier"/>
              </a:rPr>
              <a:t>._items.pop()   </a:t>
            </a:r>
            <a:r>
              <a:rPr i="1">
                <a:solidFill>
                  <a:srgbClr val="60A0B0"/>
                </a:solidFill>
                <a:latin typeface="Courier"/>
              </a:rPr>
              <a:t># removes and returns the LAST element</a:t>
            </a:r>
            <a:br/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def</a:t>
            </a:r>
            <a:r>
              <a:rPr>
                <a:latin typeface="Courier"/>
              </a:rPr>
              <a:t> peek(</a:t>
            </a:r>
            <a:r>
              <a:rPr>
                <a:solidFill>
                  <a:srgbClr val="19177C"/>
                </a:solidFill>
                <a:latin typeface="Courier"/>
              </a:rPr>
              <a:t>self</a:t>
            </a:r>
            <a:r>
              <a:rPr>
                <a:latin typeface="Courier"/>
              </a:rPr>
              <a:t>):</a:t>
            </a:r>
            <a:br/>
            <a:r>
              <a:rPr>
                <a:latin typeface="Courier"/>
              </a:rPr>
              <a:t>        </a:t>
            </a:r>
            <a:r>
              <a:rPr b="1">
                <a:solidFill>
                  <a:srgbClr val="007020"/>
                </a:solidFill>
                <a:latin typeface="Courier"/>
              </a:rPr>
              <a:t>if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not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19177C"/>
                </a:solidFill>
                <a:latin typeface="Courier"/>
              </a:rPr>
              <a:t>self</a:t>
            </a:r>
            <a:r>
              <a:rPr>
                <a:latin typeface="Courier"/>
              </a:rPr>
              <a:t>._items:</a:t>
            </a:r>
            <a:br/>
            <a:r>
              <a:rPr>
                <a:latin typeface="Courier"/>
              </a:rPr>
              <a:t>            </a:t>
            </a:r>
            <a:r>
              <a:rPr b="1">
                <a:solidFill>
                  <a:srgbClr val="007020"/>
                </a:solidFill>
                <a:latin typeface="Courier"/>
              </a:rPr>
              <a:t>raise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BC7A00"/>
                </a:solidFill>
                <a:latin typeface="Courier"/>
              </a:rPr>
              <a:t>IndexError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"peek at an empty stack"</a:t>
            </a:r>
            <a:r>
              <a:rPr>
                <a:latin typeface="Courier"/>
              </a:rPr>
              <a:t>)</a:t>
            </a:r>
            <a:br/>
            <a:r>
              <a:rPr>
                <a:latin typeface="Courier"/>
              </a:rPr>
              <a:t>        </a:t>
            </a:r>
            <a:r>
              <a:rPr b="1">
                <a:solidFill>
                  <a:srgbClr val="007020"/>
                </a:solidFill>
                <a:latin typeface="Courier"/>
              </a:rPr>
              <a:t>return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19177C"/>
                </a:solidFill>
                <a:latin typeface="Courier"/>
              </a:rPr>
              <a:t>self</a:t>
            </a:r>
            <a:r>
              <a:rPr>
                <a:latin typeface="Courier"/>
              </a:rPr>
              <a:t>._items[</a:t>
            </a:r>
            <a:r>
              <a:rPr>
                <a:solidFill>
                  <a:srgbClr val="666666"/>
                </a:solidFill>
                <a:latin typeface="Courier"/>
              </a:rPr>
              <a:t>-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latin typeface="Courier"/>
              </a:rPr>
              <a:t>]</a:t>
            </a:r>
            <a:br/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def</a:t>
            </a:r>
            <a:r>
              <a:rPr>
                <a:latin typeface="Courier"/>
              </a:rPr>
              <a:t> is_empty(</a:t>
            </a:r>
            <a:r>
              <a:rPr>
                <a:solidFill>
                  <a:srgbClr val="19177C"/>
                </a:solidFill>
                <a:latin typeface="Courier"/>
              </a:rPr>
              <a:t>self</a:t>
            </a:r>
            <a:r>
              <a:rPr>
                <a:latin typeface="Courier"/>
              </a:rPr>
              <a:t>):</a:t>
            </a:r>
            <a:br/>
            <a:r>
              <a:rPr>
                <a:latin typeface="Courier"/>
              </a:rPr>
              <a:t>        </a:t>
            </a:r>
            <a:r>
              <a:rPr b="1">
                <a:solidFill>
                  <a:srgbClr val="007020"/>
                </a:solidFill>
                <a:latin typeface="Courier"/>
              </a:rPr>
              <a:t>return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08000"/>
                </a:solidFill>
                <a:latin typeface="Courier"/>
              </a:rPr>
              <a:t>len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19177C"/>
                </a:solidFill>
                <a:latin typeface="Courier"/>
              </a:rPr>
              <a:t>self</a:t>
            </a:r>
            <a:r>
              <a:rPr>
                <a:latin typeface="Courier"/>
              </a:rPr>
              <a:t>._items) </a:t>
            </a:r>
            <a:r>
              <a:rPr>
                <a:solidFill>
                  <a:srgbClr val="666666"/>
                </a:solidFill>
                <a:latin typeface="Courier"/>
              </a:rPr>
              <a:t>==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0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Why </a:t>
            </a:r>
            <a:r>
              <a:rPr>
                <a:latin typeface="Courier"/>
              </a:rPr>
              <a:t>pop()</a:t>
            </a:r>
            <a:r>
              <a:rPr/>
              <a:t> from the end, not the start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Cost of every stack operation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call stack: a stack you have already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 b="1">
                <a:solidFill>
                  <a:srgbClr val="007020"/>
                </a:solidFill>
                <a:latin typeface="Courier"/>
              </a:rPr>
              <a:t>def</a:t>
            </a:r>
            <a:r>
              <a:rPr>
                <a:latin typeface="Courier"/>
              </a:rPr>
              <a:t> a():</a:t>
            </a:r>
            <a:br/>
            <a:r>
              <a:rPr>
                <a:latin typeface="Courier"/>
              </a:rPr>
              <a:t>    b()</a:t>
            </a:r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008000"/>
                </a:solidFill>
                <a:latin typeface="Courier"/>
              </a:rPr>
              <a:t>print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"a resumes here"</a:t>
            </a:r>
            <a:r>
              <a:rPr>
                <a:latin typeface="Courier"/>
              </a:rPr>
              <a:t>)</a:t>
            </a:r>
            <a:br/>
            <a:br/>
            <a:r>
              <a:rPr b="1">
                <a:solidFill>
                  <a:srgbClr val="007020"/>
                </a:solidFill>
                <a:latin typeface="Courier"/>
              </a:rPr>
              <a:t>def</a:t>
            </a:r>
            <a:r>
              <a:rPr>
                <a:latin typeface="Courier"/>
              </a:rPr>
              <a:t> b():</a:t>
            </a:r>
            <a:br/>
            <a:r>
              <a:rPr>
                <a:latin typeface="Courier"/>
              </a:rPr>
              <a:t>    c()</a:t>
            </a:r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008000"/>
                </a:solidFill>
                <a:latin typeface="Courier"/>
              </a:rPr>
              <a:t>print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"b resumes here"</a:t>
            </a:r>
            <a:r>
              <a:rPr>
                <a:latin typeface="Courier"/>
              </a:rPr>
              <a:t>)</a:t>
            </a:r>
            <a:br/>
            <a:br/>
            <a:r>
              <a:rPr b="1">
                <a:solidFill>
                  <a:srgbClr val="007020"/>
                </a:solidFill>
                <a:latin typeface="Courier"/>
              </a:rPr>
              <a:t>def</a:t>
            </a:r>
            <a:r>
              <a:rPr>
                <a:latin typeface="Courier"/>
              </a:rPr>
              <a:t> c():</a:t>
            </a:r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008000"/>
                </a:solidFill>
                <a:latin typeface="Courier"/>
              </a:rPr>
              <a:t>print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"c runs"</a:t>
            </a:r>
            <a:r>
              <a:rPr>
                <a:latin typeface="Courier"/>
              </a:rPr>
              <a:t>)</a:t>
            </a:r>
            <a:br/>
            <a:br/>
            <a:r>
              <a:rPr>
                <a:latin typeface="Courier"/>
              </a:rPr>
              <a:t>a()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Tracing the call stack, frame by frame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Call a() → stack: [a]
  Call b() → stack: [a, b]
    Call c() → stack: [a, b, c]
    c() finishes, prints "c runs" → pop → stack: [a, b]
  b() resumes, prints "b resumes here" → pop → stack: [a]
a() resumes, prints "a resumes here" → pop → stack: []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Application: checking balanced parentheses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algorithm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 b="1">
                <a:solidFill>
                  <a:srgbClr val="007020"/>
                </a:solidFill>
                <a:latin typeface="Courier"/>
              </a:rPr>
              <a:t>def</a:t>
            </a:r>
            <a:r>
              <a:rPr>
                <a:latin typeface="Courier"/>
              </a:rPr>
              <a:t> is_balanced(s):</a:t>
            </a:r>
            <a:br/>
            <a:r>
              <a:rPr>
                <a:latin typeface="Courier"/>
              </a:rPr>
              <a:t>    pairs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{</a:t>
            </a:r>
            <a:r>
              <a:rPr>
                <a:solidFill>
                  <a:srgbClr val="4070A0"/>
                </a:solidFill>
                <a:latin typeface="Courier"/>
              </a:rPr>
              <a:t>')'</a:t>
            </a:r>
            <a:r>
              <a:rPr>
                <a:latin typeface="Courier"/>
              </a:rPr>
              <a:t>: </a:t>
            </a:r>
            <a:r>
              <a:rPr>
                <a:solidFill>
                  <a:srgbClr val="4070A0"/>
                </a:solidFill>
                <a:latin typeface="Courier"/>
              </a:rPr>
              <a:t>'('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4070A0"/>
                </a:solidFill>
                <a:latin typeface="Courier"/>
              </a:rPr>
              <a:t>']'</a:t>
            </a:r>
            <a:r>
              <a:rPr>
                <a:latin typeface="Courier"/>
              </a:rPr>
              <a:t>: </a:t>
            </a:r>
            <a:r>
              <a:rPr>
                <a:solidFill>
                  <a:srgbClr val="4070A0"/>
                </a:solidFill>
                <a:latin typeface="Courier"/>
              </a:rPr>
              <a:t>'['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4070A0"/>
                </a:solidFill>
                <a:latin typeface="Courier"/>
              </a:rPr>
              <a:t>'}'</a:t>
            </a:r>
            <a:r>
              <a:rPr>
                <a:latin typeface="Courier"/>
              </a:rPr>
              <a:t>: </a:t>
            </a:r>
            <a:r>
              <a:rPr>
                <a:solidFill>
                  <a:srgbClr val="4070A0"/>
                </a:solidFill>
                <a:latin typeface="Courier"/>
              </a:rPr>
              <a:t>'{'</a:t>
            </a:r>
            <a:r>
              <a:rPr>
                <a:latin typeface="Courier"/>
              </a:rPr>
              <a:t>}</a:t>
            </a:r>
            <a:br/>
            <a:r>
              <a:rPr>
                <a:latin typeface="Courier"/>
              </a:rPr>
              <a:t>    stack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Stack()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for</a:t>
            </a:r>
            <a:r>
              <a:rPr>
                <a:latin typeface="Courier"/>
              </a:rPr>
              <a:t> ch </a:t>
            </a:r>
            <a:r>
              <a:rPr b="1">
                <a:solidFill>
                  <a:srgbClr val="007020"/>
                </a:solidFill>
                <a:latin typeface="Courier"/>
              </a:rPr>
              <a:t>in</a:t>
            </a:r>
            <a:r>
              <a:rPr>
                <a:latin typeface="Courier"/>
              </a:rPr>
              <a:t> s:</a:t>
            </a:r>
            <a:br/>
            <a:r>
              <a:rPr>
                <a:latin typeface="Courier"/>
              </a:rPr>
              <a:t>        </a:t>
            </a:r>
            <a:r>
              <a:rPr b="1">
                <a:solidFill>
                  <a:srgbClr val="007020"/>
                </a:solidFill>
                <a:latin typeface="Courier"/>
              </a:rPr>
              <a:t>if</a:t>
            </a:r>
            <a:r>
              <a:rPr>
                <a:latin typeface="Courier"/>
              </a:rPr>
              <a:t> ch </a:t>
            </a:r>
            <a:r>
              <a:rPr b="1">
                <a:solidFill>
                  <a:srgbClr val="007020"/>
                </a:solidFill>
                <a:latin typeface="Courier"/>
              </a:rPr>
              <a:t>in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"([{"</a:t>
            </a:r>
            <a:r>
              <a:rPr>
                <a:latin typeface="Courier"/>
              </a:rPr>
              <a:t>:</a:t>
            </a:r>
            <a:br/>
            <a:r>
              <a:rPr>
                <a:latin typeface="Courier"/>
              </a:rPr>
              <a:t>            stack.push(ch)</a:t>
            </a:r>
            <a:br/>
            <a:r>
              <a:rPr>
                <a:latin typeface="Courier"/>
              </a:rPr>
              <a:t>        </a:t>
            </a:r>
            <a:r>
              <a:rPr b="1">
                <a:solidFill>
                  <a:srgbClr val="007020"/>
                </a:solidFill>
                <a:latin typeface="Courier"/>
              </a:rPr>
              <a:t>elif</a:t>
            </a:r>
            <a:r>
              <a:rPr>
                <a:latin typeface="Courier"/>
              </a:rPr>
              <a:t> ch </a:t>
            </a:r>
            <a:r>
              <a:rPr b="1">
                <a:solidFill>
                  <a:srgbClr val="007020"/>
                </a:solidFill>
                <a:latin typeface="Courier"/>
              </a:rPr>
              <a:t>in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")]}"</a:t>
            </a:r>
            <a:r>
              <a:rPr>
                <a:latin typeface="Courier"/>
              </a:rPr>
              <a:t>:</a:t>
            </a:r>
            <a:br/>
            <a:r>
              <a:rPr>
                <a:latin typeface="Courier"/>
              </a:rPr>
              <a:t>            </a:t>
            </a:r>
            <a:r>
              <a:rPr b="1">
                <a:solidFill>
                  <a:srgbClr val="007020"/>
                </a:solidFill>
                <a:latin typeface="Courier"/>
              </a:rPr>
              <a:t>if</a:t>
            </a:r>
            <a:r>
              <a:rPr>
                <a:latin typeface="Courier"/>
              </a:rPr>
              <a:t> stack.is_empty() </a:t>
            </a:r>
            <a:r>
              <a:rPr b="1">
                <a:solidFill>
                  <a:srgbClr val="007020"/>
                </a:solidFill>
                <a:latin typeface="Courier"/>
              </a:rPr>
              <a:t>or</a:t>
            </a:r>
            <a:r>
              <a:rPr>
                <a:latin typeface="Courier"/>
              </a:rPr>
              <a:t> stack.pop() </a:t>
            </a:r>
            <a:r>
              <a:rPr>
                <a:solidFill>
                  <a:srgbClr val="666666"/>
                </a:solidFill>
                <a:latin typeface="Courier"/>
              </a:rPr>
              <a:t>!=</a:t>
            </a:r>
            <a:r>
              <a:rPr>
                <a:latin typeface="Courier"/>
              </a:rPr>
              <a:t> pairs[ch]:</a:t>
            </a:r>
            <a:br/>
            <a:r>
              <a:rPr>
                <a:latin typeface="Courier"/>
              </a:rPr>
              <a:t>                </a:t>
            </a:r>
            <a:r>
              <a:rPr b="1">
                <a:solidFill>
                  <a:srgbClr val="007020"/>
                </a:solidFill>
                <a:latin typeface="Courier"/>
              </a:rPr>
              <a:t>return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19177C"/>
                </a:solidFill>
                <a:latin typeface="Courier"/>
              </a:rPr>
              <a:t>False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return</a:t>
            </a:r>
            <a:r>
              <a:rPr>
                <a:latin typeface="Courier"/>
              </a:rPr>
              <a:t> stack.is_empty()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Tracing the algorithm on a real input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Tracing a correctly balanced input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picture: stack growing and shrinking</a:t>
            </a:r>
          </a:p>
        </p:txBody>
      </p:sp>
      <p:pic>
        <p:nvPicPr>
          <p:cNvPr descr="figures/stack-trace.sv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558800" y="1193800"/>
            <a:ext cx="80264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MTech addition — why not just count brackets?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Exercise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Quiz — trace it yourself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Quiz — answer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Summary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Stacks: Last In, First Out</dc:title>
  <dc:creator>Dr. Innocent Nyalala</dc:creator>
  <cp:keywords/>
  <dcterms:created xsi:type="dcterms:W3CDTF">2026-08-03T20:31:41Z</dcterms:created>
  <dcterms:modified xsi:type="dcterms:W3CDTF">2026-08-03T20:31:41Z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s">
    <vt:lpwstr/>
  </property>
  <property fmtid="{D5CDD505-2E9C-101B-9397-08002B2CF9AE}" pid="3" name="biblio-config">
    <vt:lpwstr>True</vt:lpwstr>
  </property>
  <property fmtid="{D5CDD505-2E9C-101B-9397-08002B2CF9AE}" pid="4" name="by-author">
    <vt:lpwstr/>
  </property>
  <property fmtid="{D5CDD505-2E9C-101B-9397-08002B2CF9AE}" pid="5" name="header-includes">
    <vt:lpwstr/>
  </property>
  <property fmtid="{D5CDD505-2E9C-101B-9397-08002B2CF9AE}" pid="6" name="include-after">
    <vt:lpwstr/>
  </property>
  <property fmtid="{D5CDD505-2E9C-101B-9397-08002B2CF9AE}" pid="7" name="include-before">
    <vt:lpwstr/>
  </property>
  <property fmtid="{D5CDD505-2E9C-101B-9397-08002B2CF9AE}" pid="8" name="labels">
    <vt:lpwstr/>
  </property>
  <property fmtid="{D5CDD505-2E9C-101B-9397-08002B2CF9AE}" pid="9" name="subtitle">
    <vt:lpwstr>Programming and Data Structures — Week 3, Lecture 1</vt:lpwstr>
  </property>
  <property fmtid="{D5CDD505-2E9C-101B-9397-08002B2CF9AE}" pid="10" name="toc-title">
    <vt:lpwstr>Table of contents</vt:lpwstr>
  </property>
</Properties>
</file>