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Queues: First In, First Out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3,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cafeteria-line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FIFO precisely, against LIFO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everyday FIFO examples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naive array-backed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NaiveQueue: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enqueue(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._items.append(x)      </a:t>
            </a:r>
            <a:r>
              <a:rPr i="1">
                <a:solidFill>
                  <a:srgbClr val="60A0B0"/>
                </a:solidFill>
                <a:latin typeface="Courier"/>
              </a:rPr>
              <a:t># add to the back — Week 2: O(1) amortized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"dequeue from an empty queue"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._items.pop(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remove from the FRONT — index 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hidden trap, revealed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shift, element by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 dequeue(): [10, 20, 30, 40, 50]   (front is index 0: value 10)
Step 1: move index 1 (20) → index 0:  [20, 20, 30, 40, 50]
Step 2: move index 2 (30) → index 1:  [20, 30, 30, 40, 50]
Step 3: move index 3 (40) → index 2:  [20, 30, 40, 40, 50]
Step 4: move index 4 (50) → index 3:  [20, 30, 40, 50, 50]
Step 5: shrink length by 1:           [20, 30, 40, 50]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at scale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it for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time_naive_queue(n):</a:t>
            </a:r>
            <a:br/>
            <a:r>
              <a:rPr>
                <a:latin typeface="Courier"/>
              </a:rPr>
              <a:t>    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q.append(i)</a:t>
            </a:r>
            <a:br/>
            <a:r>
              <a:rPr>
                <a:latin typeface="Courier"/>
              </a:rPr>
              <a:t>    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q.pop(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2_000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4_000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8_000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(n, time_naive_queue(n))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Fixing it: </a:t>
            </a:r>
            <a:r>
              <a:rPr>
                <a:latin typeface="Courier"/>
              </a:rPr>
              <a:t>collections.deque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collections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deque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Queue: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deque()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enqueue(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._items.append(x)        </a:t>
            </a:r>
            <a:r>
              <a:rPr i="1">
                <a:solidFill>
                  <a:srgbClr val="60A0B0"/>
                </a:solidFill>
                <a:latin typeface="Courier"/>
              </a:rPr>
              <a:t># add to the back — O(1)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"dequeue from an empty queue"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._items.popleft()  </a:t>
            </a:r>
            <a:r>
              <a:rPr i="1">
                <a:solidFill>
                  <a:srgbClr val="60A0B0"/>
                </a:solidFill>
                <a:latin typeface="Courier"/>
              </a:rPr>
              <a:t># remove from the front — O(1)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Side-by-side: naive queue vs. </a:t>
            </a:r>
            <a:r>
              <a:rPr>
                <a:latin typeface="Courier"/>
              </a:rPr>
              <a:t>deque</a:t>
            </a:r>
            <a:r>
              <a:rPr/>
              <a:t>-backed queue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a print job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jobs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Queue()</a:t>
            </a:r>
            <a:br/>
            <a:r>
              <a:rPr>
                <a:latin typeface="Courier"/>
              </a:rPr>
              <a:t>jobs.enqueue(</a:t>
            </a:r>
            <a:r>
              <a:rPr>
                <a:solidFill>
                  <a:srgbClr val="4070A0"/>
                </a:solidFill>
                <a:latin typeface="Courier"/>
              </a:rPr>
              <a:t>"report.pdf"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jobs.enqueue(</a:t>
            </a:r>
            <a:r>
              <a:rPr>
                <a:solidFill>
                  <a:srgbClr val="4070A0"/>
                </a:solidFill>
                <a:latin typeface="Courier"/>
              </a:rPr>
              <a:t>"photo.png"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jobs.enqueue(</a:t>
            </a:r>
            <a:r>
              <a:rPr>
                <a:solidFill>
                  <a:srgbClr val="4070A0"/>
                </a:solidFill>
                <a:latin typeface="Courier"/>
              </a:rPr>
              <a:t>"invoice.pdf"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jobs.dequeue()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"printing:"</a:t>
            </a:r>
            <a:r>
              <a:rPr>
                <a:latin typeface="Courier"/>
              </a:rPr>
              <a:t>, current)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print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enqueue("report.pdf")  → queue: [report.pdf]
enqueue("photo.png")   → queue: [report.pdf, photo.png]
enqueue("invoice.pdf") → queue: [report.pdf, photo.png, invoice.pdf]
dequeue() → "report.pdf"  → queue: [photo.png, invoice.pdf]
dequeue() → "photo.png"   → queue: [invoice.pdf]
dequeue() → "invoice.pdf" → queue: []
dequeue() → IndexError (empty)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two ends, two operations</a:t>
            </a:r>
          </a:p>
        </p:txBody>
      </p:sp>
      <p:pic>
        <p:nvPicPr>
          <p:cNvPr descr="figures/queue-vs-stack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implementing a queue with two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TwoStackQueue: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._in_stack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._out_stack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enqueue(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._in_stack.append(x)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._out_stack: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._in_stack:</a:t>
            </a:r>
            <a:br/>
            <a:r>
              <a:rPr>
                <a:latin typeface="Courier"/>
              </a:rPr>
              <a:t>    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._out_stack.append(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._in_stack.pop())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._out_stack: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"dequeue from an empty queue"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._out_stack.pop()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why this is still amortized O(1)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spot the cost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Queues: First In, First Out</dc:title>
  <dc:creator>Dr. Innocent Nyalala</dc:creator>
  <cp:keywords/>
  <dcterms:created xsi:type="dcterms:W3CDTF">2026-08-03T20:32:07Z</dcterms:created>
  <dcterms:modified xsi:type="dcterms:W3CDTF">2026-08-03T20:32:07Z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3, Lecture 2</vt:lpwstr>
  </property>
  <property fmtid="{D5CDD505-2E9C-101B-9397-08002B2CF9AE}" pid="10" name="toc-title">
    <vt:lpwstr>Table of contents</vt:lpwstr>
  </property>
</Properties>
</file>