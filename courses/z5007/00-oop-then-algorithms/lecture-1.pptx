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by asking who has used a class before, in any language. Follow with “what’s the difference between a class and an object” — expect confused or circular answers even from students who claim familiarity. That confusion is the whole reason this lecture exists, and it is worth surfacing before you start, not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Live-code this one rather than showing it pre-written — the value is in watching </a:t>
            </a:r>
            <a:r>
              <a:rPr>
                <a:latin typeface="Courier"/>
              </a:rPr>
              <a:t>Point(...)</a:t>
            </a:r>
            <a:r>
              <a:rPr/>
              <a:t> get called again from inside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Classes and Objects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Programming and Data Structures — Week 1, Lecture 1</a:t>
            </a:r>
            <a:br/>
            <a:br/>
            <a:r>
              <a:rPr/>
              <a:t>Dr. Innocent Nyalala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Programming and Data Structures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will be able to do by January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15-week roadmap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15-week roadmap, continued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your grade is composed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Textbooks and how to use them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Policies you need to know from day one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Objectives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start here, not with data structures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problem, before 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distance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((p1[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p2[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(p1[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p2[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class is a blueprint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Point: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"""A point in the 2D plane."""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x, y):      </a:t>
            </a:r>
            <a:r>
              <a:rPr i="1">
                <a:solidFill>
                  <a:srgbClr val="60A0B0"/>
                </a:solidFill>
                <a:latin typeface="Courier"/>
              </a:rPr>
              <a:t># runs once, when a Point is created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self.x is THIS point's x, not some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global variable named x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distance_to(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other):</a:t>
            </a:r>
            <a:br/>
            <a:r>
              <a:rPr>
                <a:latin typeface="Courier"/>
              </a:rPr>
              <a:t>        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.x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other.x</a:t>
            </a:r>
            <a:br/>
            <a:r>
              <a:rPr>
                <a:latin typeface="Courier"/>
              </a:rPr>
              <a:t>        dy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.y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other.y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(dx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dy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vs. object, drawn out</a:t>
            </a:r>
          </a:p>
        </p:txBody>
      </p:sp>
      <p:pic>
        <p:nvPicPr>
          <p:cNvPr descr="figures/class-vs-object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Point(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Point(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(p1.distance_to(p2))</a:t>
            </a:r>
          </a:p>
          <a:p>
            <a:pPr lvl="0" indent="0">
              <a:buNone/>
            </a:pPr>
            <a:r>
              <a:rPr>
                <a:latin typeface="Courier"/>
              </a:rPr>
              <a:t>5.0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Attributes vs. methods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Holds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Holds behavior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Attribute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self.x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self.y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Method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distance_to(self, other)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first mistake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Point: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x, y):</a:t>
            </a:r>
            <a:br/>
            <a:r>
              <a:rPr>
                <a:latin typeface="Courier"/>
              </a:rPr>
              <a:t>    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       </a:t>
            </a:r>
            <a:r>
              <a:rPr i="1">
                <a:solidFill>
                  <a:srgbClr val="60A0B0"/>
                </a:solidFill>
                <a:latin typeface="Courier"/>
              </a:rPr>
              <a:t># </a:t>
            </a:r>
            <a:r>
              <a:rPr b="1">
                <a:solidFill>
                  <a:srgbClr val="FF0000"/>
                </a:solidFill>
                <a:latin typeface="Courier"/>
              </a:rPr>
              <a:t>BUG</a:t>
            </a:r>
            <a:r>
              <a:rPr i="1">
                <a:solidFill>
                  <a:srgbClr val="60A0B0"/>
                </a:solidFill>
                <a:latin typeface="Courier"/>
              </a:rPr>
              <a:t>: assigns to the local parameter, not self.x</a:t>
            </a:r>
            <a:br/>
            <a:r>
              <a:rPr>
                <a:latin typeface="Courier"/>
              </a:rPr>
              <a:t>       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</a:t>
            </a:r>
            <a:br/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Point(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(p.x)   </a:t>
            </a:r>
            <a:r>
              <a:rPr i="1">
                <a:solidFill>
                  <a:srgbClr val="60A0B0"/>
                </a:solidFill>
                <a:latin typeface="Courier"/>
              </a:rPr>
              <a:t># AttributeError: 'Point' object has no attribute 'x'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coding exercise (5 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midpoint(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other):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Point((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.x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other.x)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.y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other.y)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spot the bug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Rectangle: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w, h):</a:t>
            </a:r>
            <a:br/>
            <a:r>
              <a:rPr>
                <a:latin typeface="Courier"/>
              </a:rPr>
              <a:t>        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w</a:t>
            </a:r>
            <a:br/>
            <a:r>
              <a:rPr>
                <a:latin typeface="Courier"/>
              </a:rPr>
              <a:t>        h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.w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.h</a:t>
            </a:r>
            <a:br/>
            <a:br/>
            <a:r>
              <a:rPr>
                <a:latin typeface="Courier"/>
              </a:rPr>
              <a:t>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Rectangle(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(r.area())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answer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Classes and Objects</dc:title>
  <dc:creator>Dr. Innocent Nyalala</dc:creator>
  <cp:keywords/>
  <dcterms:created xsi:type="dcterms:W3CDTF">2026-08-03T20:13:57Z</dcterms:created>
  <dcterms:modified xsi:type="dcterms:W3CDTF">2026-08-03T20:13:57Z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Programming and Data Structures — Week 1, Lecture 1</vt:lpwstr>
  </property>
  <property fmtid="{D5CDD505-2E9C-101B-9397-08002B2CF9AE}" pid="10" name="toc-title">
    <vt:lpwstr>Table of contents</vt:lpwstr>
  </property>
</Properties>
</file>