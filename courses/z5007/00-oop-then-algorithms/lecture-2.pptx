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Ask: “whose fault is this crash?” Students often blame the caller who wrote </a:t>
            </a:r>
            <a:r>
              <a:rPr>
                <a:latin typeface="Courier"/>
              </a:rPr>
              <a:t>p.x = "banana"</a:t>
            </a:r>
            <a:r>
              <a:rPr/>
              <a:t>. Push back: the class had a chance to refuse that and did not take it. That reframing is the entire point of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Encapsulation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time, and the gap it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p.x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"banana"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# legal Python. Nothing stops this.</a:t>
            </a:r>
            <a:br/>
            <a:r>
              <a:rPr>
                <a:latin typeface="Courier"/>
              </a:rPr>
              <a:t>p.distance_to(Point(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   </a:t>
            </a:r>
            <a:r>
              <a:rPr i="1">
                <a:solidFill>
                  <a:srgbClr val="60A0B0"/>
                </a:solidFill>
                <a:latin typeface="Courier"/>
              </a:rPr>
              <a:t># crashes, far from where the mistake was made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Encapsulation: hide the data, expose the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BankAccount: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balance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balance     </a:t>
            </a:r>
            <a:r>
              <a:rPr i="1">
                <a:solidFill>
                  <a:srgbClr val="60A0B0"/>
                </a:solidFill>
                <a:latin typeface="Courier"/>
              </a:rPr>
              <a:t># leading underscore: "do not touch directly"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deposit(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amount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"deposit must be positive"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amount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withdraw(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amount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"insufficient funds"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amount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balance(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leading underscore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account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BankAccount(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account.deposit(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(account.balance())     </a:t>
            </a:r>
            <a:r>
              <a:rPr i="1">
                <a:solidFill>
                  <a:srgbClr val="60A0B0"/>
                </a:solidFill>
                <a:latin typeface="Courier"/>
              </a:rPr>
              <a:t># 150 — the only sanctioned way to read 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 bad withdrawal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account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BankAccount(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account.withdraw(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example: enforcing a valid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Temperature: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"""Stores a temperature in Celsius, refusing physically impossible values."""</a:t>
            </a:r>
            <a:br/>
            <a:br/>
            <a:r>
              <a:rPr>
                <a:latin typeface="Courier"/>
              </a:rPr>
              <a:t>    ABSOLUTE_ZERO_C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273.15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celsius):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celsius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.ABSOLUTE_ZERO_C: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celsius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C is below absolute zero"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._celsius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celsius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celsius(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._celsius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fahrenheit(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._celsius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encapsulation is not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(do this before the lab)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find 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Wallet: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cents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cents          </a:t>
            </a:r>
            <a:r>
              <a:rPr i="1">
                <a:solidFill>
                  <a:srgbClr val="60A0B0"/>
                </a:solidFill>
                <a:latin typeface="Courier"/>
              </a:rPr>
              <a:t># no underscore — deliberately, for this quiz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.cents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amount</a:t>
            </a:r>
            <a:br/>
            <a:br/>
            <a:r>
              <a:rPr>
                <a:latin typeface="Courier"/>
              </a:rPr>
              <a:t>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Wallet(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w.cents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9999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Dr. Innocent Nyalala</dc:creator>
  <cp:keywords/>
  <dcterms:created xsi:type="dcterms:W3CDTF">2026-08-03T18:21:19Z</dcterms:created>
  <dcterms:modified xsi:type="dcterms:W3CDTF">2026-08-03T18:21:19Z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2</vt:lpwstr>
  </property>
  <property fmtid="{D5CDD505-2E9C-101B-9397-08002B2CF9AE}" pid="10" name="toc-title">
    <vt:lpwstr>Table of contents</vt:lpwstr>
  </property>
</Properties>
</file>